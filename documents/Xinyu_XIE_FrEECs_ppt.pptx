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5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66" r:id="rId3"/>
    <p:sldId id="257" r:id="rId4"/>
    <p:sldId id="258" r:id="rId5"/>
    <p:sldId id="259" r:id="rId6"/>
    <p:sldId id="273" r:id="rId7"/>
    <p:sldId id="260" r:id="rId8"/>
    <p:sldId id="263" r:id="rId9"/>
    <p:sldId id="261" r:id="rId10"/>
    <p:sldId id="277" r:id="rId11"/>
    <p:sldId id="267" r:id="rId12"/>
    <p:sldId id="278" r:id="rId13"/>
    <p:sldId id="264" r:id="rId14"/>
    <p:sldId id="265" r:id="rId15"/>
    <p:sldId id="268" r:id="rId16"/>
    <p:sldId id="269" r:id="rId17"/>
    <p:sldId id="270" r:id="rId18"/>
    <p:sldId id="272" r:id="rId19"/>
    <p:sldId id="271" r:id="rId20"/>
    <p:sldId id="279" r:id="rId21"/>
    <p:sldId id="276" r:id="rId22"/>
    <p:sldId id="262" r:id="rId23"/>
    <p:sldId id="275" r:id="rId24"/>
  </p:sldIdLst>
  <p:sldSz cx="18288000" cy="10287000"/>
  <p:notesSz cx="6858000" cy="9144000"/>
  <p:embeddedFontLst>
    <p:embeddedFont>
      <p:font typeface="等线" panose="02010600030101010101" pitchFamily="2" charset="-122"/>
      <p:regular r:id="rId26"/>
      <p:bold r:id="rId27"/>
    </p:embeddedFont>
    <p:embeddedFont>
      <p:font typeface="Arial Black" panose="020B0604020202020204" pitchFamily="34" charset="0"/>
      <p:bold r:id="rId28"/>
    </p:embeddedFont>
    <p:embeddedFont>
      <p:font typeface="Canva Sans Bold" panose="020B0803030501040103" pitchFamily="34" charset="0"/>
      <p:regular r:id="rId29"/>
      <p:bold r:id="rId29"/>
    </p:embeddedFont>
    <p:embeddedFont>
      <p:font typeface="Cyrillic Bodoni Rough" pitchFamily="82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2" autoAdjust="0"/>
    <p:restoredTop sz="74118" autoAdjust="0"/>
  </p:normalViewPr>
  <p:slideViewPr>
    <p:cSldViewPr>
      <p:cViewPr varScale="1">
        <p:scale>
          <a:sx n="59" d="100"/>
          <a:sy n="59" d="100"/>
        </p:scale>
        <p:origin x="1488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867F-8D9A-A147-8A43-097393533132}" type="datetimeFigureOut">
              <a:rPr kumimoji="1" lang="zh-CN" altLang="en-US" smtClean="0"/>
              <a:t>2024/9/3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7B339-F5F2-244D-970D-2394A8BADD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622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118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The essential role of microbial communities in understanding the complex interrelationships between organisms and their environments has led to the development of the </a:t>
            </a:r>
            <a:r>
              <a:rPr kumimoji="1" lang="en" altLang="zh-CN" dirty="0" err="1"/>
              <a:t>holobiont</a:t>
            </a:r>
            <a:r>
              <a:rPr kumimoji="1" lang="en" altLang="zh-CN" dirty="0"/>
              <a:t> concept, which integrates hosts and their associated microorganisms into a single entity.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 Insect has… advantages </a:t>
            </a:r>
            <a:r>
              <a:rPr kumimoji="1" lang="en-US" altLang="zh-CN" dirty="0" err="1"/>
              <a:t>mak</a:t>
            </a:r>
            <a:r>
              <a:rPr kumimoji="1" lang="en-US" altLang="zh-CN" dirty="0"/>
              <a:t> 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The idea that “to study an insect is to study the </a:t>
            </a:r>
            <a:r>
              <a:rPr lang="en" altLang="zh-CN" sz="1800" dirty="0" err="1">
                <a:solidFill>
                  <a:srgbClr val="000000"/>
                </a:solidFill>
                <a:effectLst/>
                <a:latin typeface="CharterBT-Roman"/>
              </a:rPr>
              <a:t>holobiont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” become a growing consensus within the scientific community.</a:t>
            </a:r>
            <a:endParaRPr lang="e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8017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According to the species-area relationship (SAR), species richness increases with habitat size. Similarly, a larger body size in insects lead to provide more space for the microbiome to inhabit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。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higher nutrient absorption efficiency, more complex food sources, and a larger digestive volume, resulting in more diverse gut microbiota?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691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9296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9357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 use the qiime2 to process the 16s rRNA sequence data</a:t>
            </a:r>
          </a:p>
          <a:p>
            <a:pPr>
              <a:lnSpc>
                <a:spcPct val="120000"/>
              </a:lnSpc>
            </a:pPr>
            <a:r>
              <a:rPr kumimoji="1" lang="en-US" altLang="zh-CN" sz="1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analyses:</a:t>
            </a:r>
          </a:p>
          <a:p>
            <a:pPr>
              <a:lnSpc>
                <a:spcPct val="120000"/>
              </a:lnSpc>
            </a:pPr>
            <a:r>
              <a:rPr kumimoji="1"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model </a:t>
            </a:r>
            <a:r>
              <a:rPr kumimoji="1" lang="en-US" altLang="zh-CN" sz="1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fitting and comparison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2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7121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study analyzed 8,113 insect samples across 8 orders, identifying 116,156 OTUs. The analysis used insect wet mass as an indicator of body size and considered four life stages (egg, larva, chrysalis, adult). Among these, only 2,526 samples (31.14% of the total) from 4 insect orders contained life stage information.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9525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3272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800" dirty="0" err="1">
                <a:solidFill>
                  <a:srgbClr val="000000"/>
                </a:solidFill>
                <a:effectLst/>
                <a:latin typeface="CharterBT-Roman"/>
              </a:rPr>
              <a:t>Standardised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 regression coefficients</a:t>
            </a:r>
            <a:endParaRPr lang="en" altLang="zh-CN" dirty="0"/>
          </a:p>
          <a:p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  <a:ea typeface="STSong" panose="02010600040101010101" pitchFamily="2" charset="-122"/>
              </a:rPr>
              <a:t>The results indicate that as insects transition </a:t>
            </a:r>
            <a:endParaRPr lang="en" altLang="zh-CN" sz="1800" dirty="0">
              <a:solidFill>
                <a:srgbClr val="000000"/>
              </a:solidFill>
              <a:effectLst/>
              <a:latin typeface="STSong" panose="02010600040101010101" pitchFamily="2" charset="-122"/>
              <a:ea typeface="STSong" panose="02010600040101010101" pitchFamily="2" charset="-122"/>
            </a:endParaRPr>
          </a:p>
          <a:p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from the larval stage to other life stages, the </a:t>
            </a:r>
            <a:r>
              <a:rPr lang="en" altLang="zh-CN" sz="1800" dirty="0" err="1">
                <a:solidFill>
                  <a:srgbClr val="000000"/>
                </a:solidFill>
                <a:effectLst/>
                <a:latin typeface="CharterBT-Roman"/>
              </a:rPr>
              <a:t>standardised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 regression coefficients </a:t>
            </a:r>
            <a:endParaRPr lang="en" altLang="zh-CN" dirty="0"/>
          </a:p>
          <a:p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are consistently negative, suggesting a progressive decrease in gut microbial species </a:t>
            </a:r>
            <a:endParaRPr lang="en" altLang="zh-CN" dirty="0"/>
          </a:p>
          <a:p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diversity. The adult stage shows the greatest reduction in diversity</a:t>
            </a:r>
            <a:endParaRPr lang="e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5894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3471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35619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" altLang="zh-CN" b="0" i="0" u="none" strike="noStrike" dirty="0">
                <a:solidFill>
                  <a:srgbClr val="000000"/>
                </a:solidFill>
                <a:effectLst/>
              </a:rPr>
              <a:t>Based on the results, I observe that larger-bodied insects tend to have richer gut microbial diversity. This can be attributed to three main reasons:</a:t>
            </a:r>
          </a:p>
          <a:p>
            <a:pPr algn="l">
              <a:buFont typeface="+mj-lt"/>
              <a:buAutoNum type="arabicPeriod"/>
            </a:pPr>
            <a:r>
              <a:rPr lang="en" altLang="zh-CN" b="1" i="0" u="none" strike="noStrike" dirty="0">
                <a:solidFill>
                  <a:srgbClr val="000000"/>
                </a:solidFill>
                <a:effectLst/>
              </a:rPr>
              <a:t>Niche and Habitat Expansion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</a:rPr>
              <a:t>: Larger insects, such as the European looper moths, often have a wider range of habitats. This increased range exposes them to a more diverse array of environments, which likely leads to greater microbial diversity in their guts.</a:t>
            </a:r>
          </a:p>
          <a:p>
            <a:pPr algn="l">
              <a:buFont typeface="+mj-lt"/>
              <a:buAutoNum type="arabicPeriod"/>
            </a:pPr>
            <a:r>
              <a:rPr lang="en" altLang="zh-CN" b="1" i="0" u="none" strike="noStrike" dirty="0">
                <a:solidFill>
                  <a:srgbClr val="000000"/>
                </a:solidFill>
                <a:effectLst/>
              </a:rPr>
              <a:t>Dietary Complexity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</a:rPr>
              <a:t>: Large beetles, for example, need to digest complex plant materials like cellulose, requiring a more diverse and specialized gut microbiota. Additionally, insects like cockroaches, which are also large, have a highly varied diet, consuming almost anything they encounter. This varied diet further contributes to the richness of their gut microbiota.</a:t>
            </a:r>
          </a:p>
          <a:p>
            <a:pPr algn="l">
              <a:buFont typeface="+mj-lt"/>
              <a:buAutoNum type="arabicPeriod"/>
            </a:pPr>
            <a:r>
              <a:rPr lang="en" altLang="zh-CN" b="1" i="0" u="none" strike="noStrike" dirty="0">
                <a:solidFill>
                  <a:srgbClr val="000000"/>
                </a:solidFill>
                <a:effectLst/>
              </a:rPr>
              <a:t>Predatory Behavior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</a:rPr>
              <a:t>: Larger insects often prey on smaller ones, leading to a transfer of gut microbes. For instance, after ground beetles consume aphids, they exhibit similar microbial diversity patterns to those of their prey, indicating that diet directly influences gut microbiota composition.</a:t>
            </a:r>
          </a:p>
          <a:p>
            <a:pPr algn="l"/>
            <a:r>
              <a:rPr lang="en" altLang="zh-CN" b="0" i="0" u="none" strike="noStrike" dirty="0">
                <a:solidFill>
                  <a:srgbClr val="000000"/>
                </a:solidFill>
                <a:effectLst/>
              </a:rPr>
              <a:t>These factors—ranging from habitat diversity to dietary habits and predatory behaviors—collectively explain why larger-bodied insects tend to harbor more complex and diverse gut microbiomes.”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6816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the life cycle of dragon</a:t>
            </a:r>
            <a:r>
              <a:rPr lang="en" altLang="zh-CN" sz="12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flies includes both an aquatic larval stage and a terrestrial adult stage</a:t>
            </a:r>
            <a:endParaRPr lang="e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7993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1313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3774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64216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 use the qiime2 to process the 16s rRNA sequence data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2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results reveal significant differences in the composition of gut microbiota across different insect orders, particularly in the phyla </a:t>
            </a:r>
            <a:r>
              <a:rPr lang="en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Chloroflexi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Firmicutes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e Top 10 microbial phyla</a:t>
            </a:r>
            <a:endParaRPr lang="en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  <a:ea typeface="STSong" panose="02010600040101010101" pitchFamily="2" charset="-122"/>
              </a:rPr>
              <a:t>Top 50 microbial families</a:t>
            </a:r>
            <a:endParaRPr lang="en" altLang="zh-CN" sz="1800" dirty="0">
              <a:solidFill>
                <a:srgbClr val="000000"/>
              </a:solidFill>
              <a:effectLst/>
              <a:latin typeface="STSong" panose="02010600040101010101" pitchFamily="2" charset="-122"/>
              <a:ea typeface="STSong" panose="02010600040101010101" pitchFamily="2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9525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Principal Coordinates Analysis (</a:t>
            </a:r>
            <a:r>
              <a:rPr lang="en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PCoA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 highlights these differences in microbial community composition among insect orders.</a:t>
            </a:r>
          </a:p>
          <a:p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beta diversity analysis </a:t>
            </a:r>
            <a:r>
              <a:rPr lang="en" altLang="zh-CN" sz="1800" dirty="0" err="1">
                <a:solidFill>
                  <a:srgbClr val="000000"/>
                </a:solidFill>
                <a:effectLst/>
                <a:latin typeface="CharterBT-Roman"/>
              </a:rPr>
              <a:t>utilising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 the Bray</a:t>
            </a:r>
            <a:r>
              <a:rPr lang="en" altLang="zh-CN" sz="12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Curtis distance measure.</a:t>
            </a:r>
            <a:endParaRPr lang="e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88799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B339-F5F2-244D-970D-2394A8BADD57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3561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emf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emf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4.emf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2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emf"/><Relationship Id="rId4" Type="http://schemas.openxmlformats.org/officeDocument/2006/relationships/image" Target="../media/image3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738477" y="-376702"/>
            <a:ext cx="17476955" cy="13041037"/>
          </a:xfrm>
          <a:custGeom>
            <a:avLst/>
            <a:gdLst/>
            <a:ahLst/>
            <a:cxnLst/>
            <a:rect l="l" t="t" r="r" b="b"/>
            <a:pathLst>
              <a:path w="17476955" h="13041037">
                <a:moveTo>
                  <a:pt x="0" y="0"/>
                </a:moveTo>
                <a:lnTo>
                  <a:pt x="17476954" y="0"/>
                </a:lnTo>
                <a:lnTo>
                  <a:pt x="17476954" y="13041037"/>
                </a:lnTo>
                <a:lnTo>
                  <a:pt x="0" y="13041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191000" y="1790700"/>
            <a:ext cx="12393662" cy="5504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75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The Role of Body Size in Shaping Insect Gut Microbiomes Across Life Stages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706600" y="8191500"/>
            <a:ext cx="2325291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dirty="0" err="1">
                <a:solidFill>
                  <a:srgbClr val="FFFFFF"/>
                </a:solidFill>
                <a:latin typeface="Cyrillic Bodoni Rough"/>
                <a:ea typeface="Cyrillic Bodoni Rough"/>
                <a:cs typeface="Cyrillic Bodoni Rough"/>
                <a:sym typeface="Cyrillic Bodoni Rough"/>
              </a:rPr>
              <a:t>Xinyu</a:t>
            </a:r>
            <a:r>
              <a:rPr lang="en-US" sz="4000" dirty="0">
                <a:solidFill>
                  <a:srgbClr val="FFFFFF"/>
                </a:solidFill>
                <a:latin typeface="Cyrillic Bodoni Rough"/>
                <a:ea typeface="Cyrillic Bodoni Rough"/>
                <a:cs typeface="Cyrillic Bodoni Rough"/>
                <a:sym typeface="Cyrillic Bodoni Rough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Cyrillic Bodoni Rough"/>
                <a:ea typeface="Cyrillic Bodoni Rough"/>
                <a:cs typeface="Cyrillic Bodoni Rough"/>
                <a:sym typeface="Cyrillic Bodoni Rough"/>
              </a:rPr>
              <a:t>Xie</a:t>
            </a:r>
            <a:r>
              <a:rPr lang="en-US" sz="4000" dirty="0">
                <a:solidFill>
                  <a:srgbClr val="FFFFFF"/>
                </a:solidFill>
                <a:latin typeface="Cyrillic Bodoni Rough"/>
                <a:ea typeface="Cyrillic Bodoni Rough"/>
                <a:cs typeface="Cyrillic Bodoni Rough"/>
                <a:sym typeface="Cyrillic Bodoni Rough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黑色的昆虫&#10;&#10;低可信度描述已自动生成">
            <a:extLst>
              <a:ext uri="{FF2B5EF4-FFF2-40B4-BE49-F238E27FC236}">
                <a16:creationId xmlns:a16="http://schemas.microsoft.com/office/drawing/2014/main" id="{56215AEF-3AFB-CD3E-2E26-50734F217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-647700"/>
            <a:ext cx="16394661" cy="12230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689589-D47A-0CA0-08B7-B1401AAC2382}"/>
              </a:ext>
            </a:extLst>
          </p:cNvPr>
          <p:cNvSpPr txBox="1"/>
          <p:nvPr/>
        </p:nvSpPr>
        <p:spPr>
          <a:xfrm>
            <a:off x="5334000" y="4487967"/>
            <a:ext cx="13416420" cy="131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7777" b="1" dirty="0" err="1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Introuction</a:t>
            </a:r>
            <a:endParaRPr lang="en-US" sz="7777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</p:spTree>
    <p:extLst>
      <p:ext uri="{BB962C8B-B14F-4D97-AF65-F5344CB8AC3E}">
        <p14:creationId xmlns:p14="http://schemas.microsoft.com/office/powerpoint/2010/main" val="2324960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H="1" flipV="1">
            <a:off x="4493100" y="1490922"/>
            <a:ext cx="2732207" cy="2289274"/>
          </a:xfrm>
          <a:prstGeom prst="line">
            <a:avLst/>
          </a:prstGeom>
          <a:ln w="38100" cap="flat">
            <a:noFill/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3907" y="723900"/>
            <a:ext cx="37791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 err="1">
                <a:solidFill>
                  <a:srgbClr val="FFFF00"/>
                </a:solidFill>
                <a:latin typeface="Canva Sans Bold"/>
                <a:ea typeface="Bodoni Ornaments" pitchFamily="2" charset="0"/>
                <a:cs typeface="Canva Sans Bold"/>
                <a:sym typeface="Canva Sans Bold"/>
              </a:rPr>
              <a:t>Holobiont</a:t>
            </a:r>
            <a:endParaRPr lang="en-US" sz="6000" dirty="0">
              <a:solidFill>
                <a:srgbClr val="FFFF00"/>
              </a:solidFill>
              <a:latin typeface="Canva Sans Bold"/>
              <a:ea typeface="Bodoni Ornaments" pitchFamily="2" charset="0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0371" y="2282726"/>
            <a:ext cx="229641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FF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Insect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3200400" y="2797076"/>
            <a:ext cx="2605480" cy="2289274"/>
          </a:xfrm>
          <a:prstGeom prst="line">
            <a:avLst/>
          </a:prstGeom>
          <a:ln w="38100" cap="flat">
            <a:noFill/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447800" y="8752439"/>
            <a:ext cx="750294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FF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Gut Microbiomes</a:t>
            </a:r>
          </a:p>
        </p:txBody>
      </p:sp>
      <p:sp>
        <p:nvSpPr>
          <p:cNvPr id="8" name="AutoShape 8"/>
          <p:cNvSpPr/>
          <p:nvPr/>
        </p:nvSpPr>
        <p:spPr>
          <a:xfrm flipH="1" flipV="1">
            <a:off x="2970071" y="7131620"/>
            <a:ext cx="1906729" cy="1815881"/>
          </a:xfrm>
          <a:prstGeom prst="line">
            <a:avLst/>
          </a:prstGeom>
          <a:ln w="38100" cap="flat">
            <a:noFill/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D13FB1-69B6-0252-0CD1-207892F7CF8F}"/>
              </a:ext>
            </a:extLst>
          </p:cNvPr>
          <p:cNvSpPr txBox="1"/>
          <p:nvPr/>
        </p:nvSpPr>
        <p:spPr>
          <a:xfrm>
            <a:off x="605778" y="2347618"/>
            <a:ext cx="57188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dirty="0">
                <a:solidFill>
                  <a:schemeClr val="bg1"/>
                </a:solidFill>
                <a:latin typeface="-webkit-standard"/>
              </a:rPr>
              <a:t>A </a:t>
            </a:r>
            <a:r>
              <a:rPr lang="en" altLang="zh-CN" sz="3600" u="none" strike="noStrike" dirty="0">
                <a:solidFill>
                  <a:schemeClr val="bg1"/>
                </a:solidFill>
                <a:effectLst/>
                <a:latin typeface="-webkit-standard"/>
              </a:rPr>
              <a:t>host organism + its associated microbial communities </a:t>
            </a:r>
          </a:p>
          <a:p>
            <a:r>
              <a:rPr lang="en" altLang="zh-CN" sz="3600" u="none" strike="noStrike" dirty="0">
                <a:solidFill>
                  <a:schemeClr val="bg1"/>
                </a:solidFill>
                <a:effectLst/>
                <a:latin typeface="-webkit-standard"/>
              </a:rPr>
              <a:t>= </a:t>
            </a:r>
            <a:r>
              <a:rPr lang="en" altLang="zh-CN" sz="3600" dirty="0">
                <a:solidFill>
                  <a:schemeClr val="bg1"/>
                </a:solidFill>
                <a:latin typeface="-webkit-standard"/>
              </a:rPr>
              <a:t>A</a:t>
            </a:r>
            <a:r>
              <a:rPr lang="en" altLang="zh-CN" sz="3600" u="none" strike="noStrike" dirty="0">
                <a:solidFill>
                  <a:schemeClr val="bg1"/>
                </a:solidFill>
                <a:effectLst/>
                <a:latin typeface="-webkit-standard"/>
              </a:rPr>
              <a:t> single biological </a:t>
            </a:r>
            <a:r>
              <a:rPr lang="en" altLang="zh-CN" sz="3600" b="1" u="none" strike="noStrike" dirty="0">
                <a:solidFill>
                  <a:schemeClr val="bg1"/>
                </a:solidFill>
                <a:effectLst/>
                <a:latin typeface="-webkit-standard"/>
              </a:rPr>
              <a:t>entity </a:t>
            </a:r>
            <a:r>
              <a:rPr lang="en" altLang="zh-CN" sz="3600" u="none" strike="noStrike" dirty="0">
                <a:solidFill>
                  <a:schemeClr val="bg1"/>
                </a:solidFill>
                <a:effectLst/>
                <a:latin typeface="-webkit-standard"/>
              </a:rPr>
              <a:t>(Margulis 1990)</a:t>
            </a:r>
          </a:p>
          <a:p>
            <a:endParaRPr kumimoji="1"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C59C57-C79F-0B1F-4D86-7A9B3CBD67A5}"/>
              </a:ext>
            </a:extLst>
          </p:cNvPr>
          <p:cNvSpPr txBox="1"/>
          <p:nvPr/>
        </p:nvSpPr>
        <p:spPr>
          <a:xfrm>
            <a:off x="5733774" y="3475994"/>
            <a:ext cx="75029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hort life cycles</a:t>
            </a:r>
            <a:endParaRPr lang="en-US" altLang="zh-C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aried diets</a:t>
            </a:r>
            <a:endParaRPr lang="en-US" altLang="zh-C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daptability to 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diverse environments</a:t>
            </a:r>
            <a:endParaRPr lang="en-US" altLang="zh-C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for studying host-microbe interactions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" altLang="zh-CN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Iltis</a:t>
            </a:r>
            <a:r>
              <a:rPr lang="en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2021)</a:t>
            </a:r>
          </a:p>
          <a:p>
            <a:endParaRPr lang="zh-CN" alt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Ecological Understanding of Insects in Organic Farming Systems: Insect Life  Cycles | eOrganic">
            <a:extLst>
              <a:ext uri="{FF2B5EF4-FFF2-40B4-BE49-F238E27FC236}">
                <a16:creationId xmlns:a16="http://schemas.microsoft.com/office/drawing/2014/main" id="{68783404-32B1-4066-4A36-C18E7B58A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653" y="125120"/>
            <a:ext cx="3371850" cy="325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97DF952-0F90-2F0A-9D49-3644830639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2" r="16602"/>
          <a:stretch/>
        </p:blipFill>
        <p:spPr>
          <a:xfrm>
            <a:off x="14033653" y="6751929"/>
            <a:ext cx="3371850" cy="3371850"/>
          </a:xfrm>
          <a:prstGeom prst="rect">
            <a:avLst/>
          </a:prstGeom>
        </p:spPr>
      </p:pic>
      <p:pic>
        <p:nvPicPr>
          <p:cNvPr id="15" name="图片 14" descr="小鸟站在绿色的叶子&#10;&#10;描述已自动生成">
            <a:extLst>
              <a:ext uri="{FF2B5EF4-FFF2-40B4-BE49-F238E27FC236}">
                <a16:creationId xmlns:a16="http://schemas.microsoft.com/office/drawing/2014/main" id="{F8E87371-6EA3-D3FE-28B7-6270D13EC8E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" t="6422" r="-125" b="26912"/>
          <a:stretch/>
        </p:blipFill>
        <p:spPr>
          <a:xfrm>
            <a:off x="14033653" y="3380079"/>
            <a:ext cx="3371850" cy="337185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91567BB-D9BB-1791-DDEC-00A1ED5AC13D}"/>
              </a:ext>
            </a:extLst>
          </p:cNvPr>
          <p:cNvSpPr txBox="1"/>
          <p:nvPr/>
        </p:nvSpPr>
        <p:spPr>
          <a:xfrm>
            <a:off x="4343400" y="5822057"/>
            <a:ext cx="13639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 a crucial role in </a:t>
            </a:r>
          </a:p>
          <a:p>
            <a:r>
              <a:rPr kumimoji="1"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kumimoji="1"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 nutrition</a:t>
            </a:r>
            <a:endParaRPr kumimoji="1" lang="en" altLang="zh-C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kumimoji="1"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Detoxification</a:t>
            </a:r>
            <a:endParaRPr kumimoji="1" lang="en" altLang="zh-C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kumimoji="1"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" altLang="zh-C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Reproduction</a:t>
            </a:r>
          </a:p>
          <a:p>
            <a:r>
              <a:rPr kumimoji="1" lang="en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significance in ecosystem dynamics (Munoz-</a:t>
            </a:r>
            <a:r>
              <a:rPr kumimoji="1" lang="en" altLang="zh-CN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Benavent</a:t>
            </a:r>
            <a:r>
              <a:rPr kumimoji="1" lang="en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2021)</a:t>
            </a:r>
          </a:p>
        </p:txBody>
      </p:sp>
      <p:pic>
        <p:nvPicPr>
          <p:cNvPr id="1028" name="Picture 4" descr="Fig. 2">
            <a:extLst>
              <a:ext uri="{FF2B5EF4-FFF2-40B4-BE49-F238E27FC236}">
                <a16:creationId xmlns:a16="http://schemas.microsoft.com/office/drawing/2014/main" id="{9EE2BA02-FBA6-8F17-3F72-1AB5C4C8E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034" y="152807"/>
            <a:ext cx="8915201" cy="493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29AB81B-F5A0-E21C-D22C-3E73AA27613C}"/>
              </a:ext>
            </a:extLst>
          </p:cNvPr>
          <p:cNvSpPr txBox="1"/>
          <p:nvPr/>
        </p:nvSpPr>
        <p:spPr>
          <a:xfrm>
            <a:off x="228600" y="9781139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Introduction</a:t>
            </a:r>
            <a:endParaRPr kumimoji="1" lang="zh-CN" altLang="en-US" dirty="0"/>
          </a:p>
        </p:txBody>
      </p:sp>
      <p:sp>
        <p:nvSpPr>
          <p:cNvPr id="2" name="Freeform 2"/>
          <p:cNvSpPr/>
          <p:nvPr/>
        </p:nvSpPr>
        <p:spPr>
          <a:xfrm>
            <a:off x="6447794" y="2447294"/>
            <a:ext cx="5392412" cy="5392412"/>
          </a:xfrm>
          <a:custGeom>
            <a:avLst/>
            <a:gdLst/>
            <a:ahLst/>
            <a:cxnLst/>
            <a:rect l="l" t="t" r="r" b="b"/>
            <a:pathLst>
              <a:path w="5392412" h="5392412">
                <a:moveTo>
                  <a:pt x="0" y="0"/>
                </a:moveTo>
                <a:lnTo>
                  <a:pt x="5392412" y="0"/>
                </a:lnTo>
                <a:lnTo>
                  <a:pt x="5392412" y="5392412"/>
                </a:lnTo>
                <a:lnTo>
                  <a:pt x="0" y="53924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2217140-8AD1-F9F5-A527-C2340FF0550D}"/>
              </a:ext>
            </a:extLst>
          </p:cNvPr>
          <p:cNvSpPr txBox="1"/>
          <p:nvPr/>
        </p:nvSpPr>
        <p:spPr>
          <a:xfrm>
            <a:off x="112389" y="9849199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</a:rPr>
              <a:t>* First picture created by </a:t>
            </a:r>
            <a:r>
              <a:rPr kumimoji="1" lang="en-US" altLang="zh-CN" sz="1400" dirty="0" err="1">
                <a:solidFill>
                  <a:schemeClr val="bg1"/>
                </a:solidFill>
              </a:rPr>
              <a:t>ChatGPT</a:t>
            </a:r>
            <a:r>
              <a:rPr kumimoji="1" lang="en-US" altLang="zh-CN" sz="1400" dirty="0">
                <a:solidFill>
                  <a:schemeClr val="bg1"/>
                </a:solidFill>
              </a:rPr>
              <a:t> by searching Insect </a:t>
            </a:r>
            <a:r>
              <a:rPr kumimoji="1" lang="en-US" altLang="zh-CN" sz="1400" dirty="0" err="1">
                <a:solidFill>
                  <a:schemeClr val="bg1"/>
                </a:solidFill>
              </a:rPr>
              <a:t>Holobiont</a:t>
            </a:r>
            <a:endParaRPr kumimoji="1"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25 0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4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4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4" grpId="0"/>
      <p:bldP spid="5" grpId="0"/>
      <p:bldP spid="6" grpId="0" animBg="1"/>
      <p:bldP spid="6" grpId="1" animBg="1"/>
      <p:bldP spid="7" grpId="0"/>
      <p:bldP spid="8" grpId="0" animBg="1"/>
      <p:bldP spid="9" grpId="0"/>
      <p:bldP spid="9" grpId="1"/>
      <p:bldP spid="11" grpId="0"/>
      <p:bldP spid="11" grpId="1"/>
      <p:bldP spid="22" grpId="0"/>
      <p:bldP spid="2" grpId="0" animBg="1"/>
      <p:bldP spid="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11801" y="-3551324"/>
            <a:ext cx="24202271" cy="18059365"/>
          </a:xfrm>
          <a:custGeom>
            <a:avLst/>
            <a:gdLst/>
            <a:ahLst/>
            <a:cxnLst/>
            <a:rect l="l" t="t" r="r" b="b"/>
            <a:pathLst>
              <a:path w="24202271" h="18059365">
                <a:moveTo>
                  <a:pt x="0" y="0"/>
                </a:moveTo>
                <a:lnTo>
                  <a:pt x="24202270" y="0"/>
                </a:lnTo>
                <a:lnTo>
                  <a:pt x="24202270" y="18059365"/>
                </a:lnTo>
                <a:lnTo>
                  <a:pt x="0" y="1805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AD18374-CE93-4099-B4E0-EB49F4A5F6CB}"/>
              </a:ext>
            </a:extLst>
          </p:cNvPr>
          <p:cNvSpPr txBox="1"/>
          <p:nvPr/>
        </p:nvSpPr>
        <p:spPr>
          <a:xfrm>
            <a:off x="914400" y="647700"/>
            <a:ext cx="13416420" cy="125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60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Body Size VS Diversity?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BBE433-4289-82DC-DEB7-7F9856D34386}"/>
              </a:ext>
            </a:extLst>
          </p:cNvPr>
          <p:cNvSpPr txBox="1"/>
          <p:nvPr/>
        </p:nvSpPr>
        <p:spPr>
          <a:xfrm>
            <a:off x="914400" y="2400300"/>
            <a:ext cx="10439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kumimoji="1" lang="zh-CN" alt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According to SAR (The species-area relationship):</a:t>
            </a:r>
          </a:p>
          <a:p>
            <a:r>
              <a:rPr kumimoji="1" lang="en-US" altLang="zh-CN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species richness </a:t>
            </a:r>
            <a:r>
              <a:rPr kumimoji="1"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</a:t>
            </a:r>
            <a:r>
              <a:rPr kumimoji="1" lang="en-US" altLang="zh-CN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habitat size</a:t>
            </a:r>
          </a:p>
          <a:p>
            <a:endParaRPr kumimoji="1" lang="en-US" altLang="zh-CN" sz="32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zh-CN" altLang="en-US" sz="32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07E273EC-EF20-E489-04FE-5038BD290D74}"/>
              </a:ext>
            </a:extLst>
          </p:cNvPr>
          <p:cNvSpPr/>
          <p:nvPr/>
        </p:nvSpPr>
        <p:spPr>
          <a:xfrm>
            <a:off x="-1676400" y="6515100"/>
            <a:ext cx="6517654" cy="4689600"/>
          </a:xfrm>
          <a:custGeom>
            <a:avLst/>
            <a:gdLst/>
            <a:ahLst/>
            <a:cxnLst/>
            <a:rect l="l" t="t" r="r" b="b"/>
            <a:pathLst>
              <a:path w="24202271" h="18059365">
                <a:moveTo>
                  <a:pt x="0" y="0"/>
                </a:moveTo>
                <a:lnTo>
                  <a:pt x="24202270" y="0"/>
                </a:lnTo>
                <a:lnTo>
                  <a:pt x="24202270" y="18059365"/>
                </a:lnTo>
                <a:lnTo>
                  <a:pt x="0" y="18059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099E98F-01DE-7DB9-7074-538772FB8651}"/>
              </a:ext>
            </a:extLst>
          </p:cNvPr>
          <p:cNvGrpSpPr/>
          <p:nvPr/>
        </p:nvGrpSpPr>
        <p:grpSpPr>
          <a:xfrm>
            <a:off x="595156" y="4817001"/>
            <a:ext cx="1974541" cy="2258855"/>
            <a:chOff x="2362200" y="4462403"/>
            <a:chExt cx="4114800" cy="733961"/>
          </a:xfrm>
        </p:grpSpPr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AEC6EC22-A4E3-DB66-E141-575365AC3BC0}"/>
                </a:ext>
              </a:extLst>
            </p:cNvPr>
            <p:cNvSpPr/>
            <p:nvPr/>
          </p:nvSpPr>
          <p:spPr>
            <a:xfrm>
              <a:off x="2362200" y="4462403"/>
              <a:ext cx="4114800" cy="733961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5F2DBE4-4937-CFF8-FDE9-DF5EFD10EDD7}"/>
                </a:ext>
              </a:extLst>
            </p:cNvPr>
            <p:cNvSpPr txBox="1"/>
            <p:nvPr/>
          </p:nvSpPr>
          <p:spPr>
            <a:xfrm>
              <a:off x="2952693" y="4595457"/>
              <a:ext cx="2933809" cy="510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200" dirty="0">
                  <a:latin typeface="Arial" panose="020B0604020202020204" pitchFamily="34" charset="0"/>
                  <a:cs typeface="Arial" panose="020B0604020202020204" pitchFamily="34" charset="0"/>
                </a:rPr>
                <a:t>Bigger Body Size</a:t>
              </a:r>
              <a:endPara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4610200-435B-0232-020A-A361B1F3A1FF}"/>
              </a:ext>
            </a:extLst>
          </p:cNvPr>
          <p:cNvGrpSpPr/>
          <p:nvPr/>
        </p:nvGrpSpPr>
        <p:grpSpPr>
          <a:xfrm>
            <a:off x="3843936" y="6939972"/>
            <a:ext cx="7509864" cy="1151810"/>
            <a:chOff x="2362199" y="4462403"/>
            <a:chExt cx="7832578" cy="1151810"/>
          </a:xfrm>
        </p:grpSpPr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D398B0C8-A0E8-669E-E2E9-F21EEF06C164}"/>
                </a:ext>
              </a:extLst>
            </p:cNvPr>
            <p:cNvSpPr/>
            <p:nvPr/>
          </p:nvSpPr>
          <p:spPr>
            <a:xfrm>
              <a:off x="2362199" y="4462403"/>
              <a:ext cx="6788716" cy="733961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91DAFE5-3241-0D16-EAAC-C111E6D88B76}"/>
                </a:ext>
              </a:extLst>
            </p:cNvPr>
            <p:cNvSpPr txBox="1"/>
            <p:nvPr/>
          </p:nvSpPr>
          <p:spPr>
            <a:xfrm>
              <a:off x="2703736" y="4536995"/>
              <a:ext cx="749104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" altLang="zh-CN" sz="3200" dirty="0">
                  <a:latin typeface="Arial" panose="020B0604020202020204" pitchFamily="34" charset="0"/>
                  <a:cs typeface="Arial" panose="020B0604020202020204" pitchFamily="34" charset="0"/>
                </a:rPr>
                <a:t>Higher nutrient traction efficiency</a:t>
              </a:r>
            </a:p>
            <a:p>
              <a:endParaRPr kumimoji="1" lang="en" altLang="zh-CN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BC5848D-6830-848A-63F4-DDE348FC91B1}"/>
              </a:ext>
            </a:extLst>
          </p:cNvPr>
          <p:cNvGrpSpPr/>
          <p:nvPr/>
        </p:nvGrpSpPr>
        <p:grpSpPr>
          <a:xfrm>
            <a:off x="3790445" y="5567901"/>
            <a:ext cx="7509864" cy="733961"/>
            <a:chOff x="2362200" y="4462403"/>
            <a:chExt cx="4684937" cy="733961"/>
          </a:xfrm>
        </p:grpSpPr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D74BD284-71B9-8B32-B5D2-15C7617A5533}"/>
                </a:ext>
              </a:extLst>
            </p:cNvPr>
            <p:cNvSpPr/>
            <p:nvPr/>
          </p:nvSpPr>
          <p:spPr>
            <a:xfrm>
              <a:off x="2362200" y="4462403"/>
              <a:ext cx="4114800" cy="733961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74D4147-63A8-D48C-62A6-ED0DEA04CB9E}"/>
                </a:ext>
              </a:extLst>
            </p:cNvPr>
            <p:cNvSpPr txBox="1"/>
            <p:nvPr/>
          </p:nvSpPr>
          <p:spPr>
            <a:xfrm>
              <a:off x="2703737" y="4536995"/>
              <a:ext cx="43434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200" dirty="0">
                  <a:latin typeface="Arial" panose="020B0604020202020204" pitchFamily="34" charset="0"/>
                  <a:cs typeface="Arial" panose="020B0604020202020204" pitchFamily="34" charset="0"/>
                </a:rPr>
                <a:t>More complex food sources</a:t>
              </a:r>
              <a:endPara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1B792AF-473D-C5A5-3443-060E33BBBD1C}"/>
              </a:ext>
            </a:extLst>
          </p:cNvPr>
          <p:cNvGrpSpPr/>
          <p:nvPr/>
        </p:nvGrpSpPr>
        <p:grpSpPr>
          <a:xfrm>
            <a:off x="3784713" y="4210394"/>
            <a:ext cx="7509864" cy="733961"/>
            <a:chOff x="2362200" y="4462403"/>
            <a:chExt cx="4684937" cy="733961"/>
          </a:xfrm>
        </p:grpSpPr>
        <p:sp>
          <p:nvSpPr>
            <p:cNvPr id="21" name="圆角矩形 20">
              <a:extLst>
                <a:ext uri="{FF2B5EF4-FFF2-40B4-BE49-F238E27FC236}">
                  <a16:creationId xmlns:a16="http://schemas.microsoft.com/office/drawing/2014/main" id="{72D55625-4A9A-0559-402A-8FB5C823005C}"/>
                </a:ext>
              </a:extLst>
            </p:cNvPr>
            <p:cNvSpPr/>
            <p:nvPr/>
          </p:nvSpPr>
          <p:spPr>
            <a:xfrm>
              <a:off x="2362200" y="4462403"/>
              <a:ext cx="4114800" cy="733961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78DE26F-07B5-0F79-E162-D12923E2140B}"/>
                </a:ext>
              </a:extLst>
            </p:cNvPr>
            <p:cNvSpPr txBox="1"/>
            <p:nvPr/>
          </p:nvSpPr>
          <p:spPr>
            <a:xfrm>
              <a:off x="2703737" y="4536995"/>
              <a:ext cx="43434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" altLang="zh-CN" sz="3200" dirty="0">
                  <a:latin typeface="Arial" panose="020B0604020202020204" pitchFamily="34" charset="0"/>
                  <a:cs typeface="Arial" panose="020B0604020202020204" pitchFamily="34" charset="0"/>
                </a:rPr>
                <a:t>Larger digestive volume</a:t>
              </a:r>
              <a:endPara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2BAF4D8-1C26-AA5D-C48F-4D39455BE598}"/>
              </a:ext>
            </a:extLst>
          </p:cNvPr>
          <p:cNvGrpSpPr/>
          <p:nvPr/>
        </p:nvGrpSpPr>
        <p:grpSpPr>
          <a:xfrm>
            <a:off x="12236207" y="4694441"/>
            <a:ext cx="3052142" cy="2447830"/>
            <a:chOff x="2362200" y="4462403"/>
            <a:chExt cx="5325805" cy="733961"/>
          </a:xfrm>
        </p:grpSpPr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C8DD58ED-88F6-C005-B6E3-D29AFDA6EFB4}"/>
                </a:ext>
              </a:extLst>
            </p:cNvPr>
            <p:cNvSpPr/>
            <p:nvPr/>
          </p:nvSpPr>
          <p:spPr>
            <a:xfrm>
              <a:off x="2362200" y="4462403"/>
              <a:ext cx="5325805" cy="733961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4E0A1E4-0CDA-6BC6-121B-BF5888347AD8}"/>
                </a:ext>
              </a:extLst>
            </p:cNvPr>
            <p:cNvSpPr txBox="1"/>
            <p:nvPr/>
          </p:nvSpPr>
          <p:spPr>
            <a:xfrm>
              <a:off x="2907719" y="4599016"/>
              <a:ext cx="4474695" cy="420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200" dirty="0"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" altLang="zh-CN" sz="320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ore diverse gut microbiota</a:t>
              </a:r>
              <a:endPara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右箭头 25">
            <a:extLst>
              <a:ext uri="{FF2B5EF4-FFF2-40B4-BE49-F238E27FC236}">
                <a16:creationId xmlns:a16="http://schemas.microsoft.com/office/drawing/2014/main" id="{46B75692-4DAE-4A59-4511-75EE7DF2C9B0}"/>
              </a:ext>
            </a:extLst>
          </p:cNvPr>
          <p:cNvSpPr/>
          <p:nvPr/>
        </p:nvSpPr>
        <p:spPr>
          <a:xfrm flipV="1">
            <a:off x="2765848" y="5567899"/>
            <a:ext cx="828445" cy="73396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6AD1B178-E647-43CB-3B8C-6A9C006F578D}"/>
              </a:ext>
            </a:extLst>
          </p:cNvPr>
          <p:cNvSpPr/>
          <p:nvPr/>
        </p:nvSpPr>
        <p:spPr>
          <a:xfrm flipV="1">
            <a:off x="10688133" y="5580549"/>
            <a:ext cx="828445" cy="73396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10EEF79-9C07-EFD2-6E77-42B7AC1931AB}"/>
              </a:ext>
            </a:extLst>
          </p:cNvPr>
          <p:cNvSpPr txBox="1"/>
          <p:nvPr/>
        </p:nvSpPr>
        <p:spPr>
          <a:xfrm>
            <a:off x="11225328" y="5564091"/>
            <a:ext cx="1302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200" dirty="0"/>
              <a:t>❓</a:t>
            </a:r>
            <a:endParaRPr kumimoji="1" lang="zh-CN" altLang="en-US" sz="7200" dirty="0"/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F538D441-E8F2-3C15-015C-D0DB199891FC}"/>
              </a:ext>
            </a:extLst>
          </p:cNvPr>
          <p:cNvSpPr txBox="1"/>
          <p:nvPr/>
        </p:nvSpPr>
        <p:spPr>
          <a:xfrm>
            <a:off x="4592099" y="8414658"/>
            <a:ext cx="13416420" cy="227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Could there be a </a:t>
            </a:r>
            <a:r>
              <a:rPr lang="en-US" sz="3600" b="1" dirty="0">
                <a:solidFill>
                  <a:srgbClr val="FF00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positive</a:t>
            </a:r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relationship between body  size and insect gut microbial diversity?</a:t>
            </a:r>
          </a:p>
          <a:p>
            <a:pPr>
              <a:lnSpc>
                <a:spcPts val="10888"/>
              </a:lnSpc>
            </a:pPr>
            <a:endParaRPr lang="en-US" sz="36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4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4E8ABE29-5B42-E072-BD41-79016DF556E9}"/>
              </a:ext>
            </a:extLst>
          </p:cNvPr>
          <p:cNvSpPr/>
          <p:nvPr/>
        </p:nvSpPr>
        <p:spPr>
          <a:xfrm>
            <a:off x="10744200" y="-19302"/>
            <a:ext cx="14478000" cy="11154003"/>
          </a:xfrm>
          <a:custGeom>
            <a:avLst/>
            <a:gdLst/>
            <a:ahLst/>
            <a:cxnLst/>
            <a:rect l="l" t="t" r="r" b="b"/>
            <a:pathLst>
              <a:path w="23348138" h="17422024">
                <a:moveTo>
                  <a:pt x="0" y="0"/>
                </a:moveTo>
                <a:lnTo>
                  <a:pt x="23348138" y="0"/>
                </a:lnTo>
                <a:lnTo>
                  <a:pt x="23348138" y="17422024"/>
                </a:lnTo>
                <a:lnTo>
                  <a:pt x="0" y="174220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1000"/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EB020E4-6462-5595-F519-FC3191CDC161}"/>
              </a:ext>
            </a:extLst>
          </p:cNvPr>
          <p:cNvSpPr txBox="1"/>
          <p:nvPr/>
        </p:nvSpPr>
        <p:spPr>
          <a:xfrm>
            <a:off x="7772357" y="529820"/>
            <a:ext cx="13416420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6000" b="1" dirty="0" err="1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Lifestage’s</a:t>
            </a:r>
            <a:r>
              <a:rPr lang="en-US" sz="60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influence?</a:t>
            </a:r>
          </a:p>
        </p:txBody>
      </p:sp>
      <p:pic>
        <p:nvPicPr>
          <p:cNvPr id="1026" name="Picture 2" descr="免费 微距拍摄, 昆蟲學, 蛹 的 免费素材图片 素材图片">
            <a:extLst>
              <a:ext uri="{FF2B5EF4-FFF2-40B4-BE49-F238E27FC236}">
                <a16:creationId xmlns:a16="http://schemas.microsoft.com/office/drawing/2014/main" id="{0BC15C1D-C637-82B7-3CBA-E6CAFC34F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535391">
            <a:off x="-143731" y="221599"/>
            <a:ext cx="1592030" cy="2388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6D70803-A010-F434-D413-0211EE0559CC}"/>
              </a:ext>
            </a:extLst>
          </p:cNvPr>
          <p:cNvSpPr txBox="1"/>
          <p:nvPr/>
        </p:nvSpPr>
        <p:spPr>
          <a:xfrm>
            <a:off x="1066800" y="1989601"/>
            <a:ext cx="14099567" cy="5799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kumimoji="1" lang="zh-CN" alt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kumimoji="1" lang="zh-CN" altLang="en-US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</a:t>
            </a:r>
            <a:r>
              <a:rPr kumimoji="1" lang="en-US" altLang="zh-CN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 </a:t>
            </a:r>
            <a:r>
              <a:rPr kumimoji="1" lang="en-US" altLang="zh-CN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described insect species undergo complete metamorphosis. </a:t>
            </a:r>
          </a:p>
          <a:p>
            <a:pPr>
              <a:lnSpc>
                <a:spcPct val="120000"/>
              </a:lnSpc>
            </a:pPr>
            <a:endParaRPr kumimoji="1" lang="en-US" altLang="zh-CN" sz="40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kumimoji="1" lang="zh-CN" altLang="en-US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Numerous aspects change </a:t>
            </a:r>
            <a:r>
              <a:rPr kumimoji="1" lang="en-US" altLang="zh-CN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dramatically</a:t>
            </a:r>
            <a:r>
              <a:rPr kumimoji="1" lang="en-US" altLang="zh-CN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kumimoji="1" lang="en-US" altLang="zh-CN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weight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kumimoji="1" lang="en-US" altLang="zh-CN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Metabolic demands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kumimoji="1" lang="en-US" altLang="zh-CN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Gut structure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kumimoji="1" lang="en" altLang="zh-CN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Environmental exposure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Ø"/>
            </a:pPr>
            <a:r>
              <a:rPr kumimoji="1" lang="en" altLang="zh-CN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Dietary changes</a:t>
            </a:r>
          </a:p>
          <a:p>
            <a:pPr>
              <a:lnSpc>
                <a:spcPct val="120000"/>
              </a:lnSpc>
            </a:pPr>
            <a:endParaRPr kumimoji="1" lang="zh-CN" altLang="en-US" sz="32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7BAF70C2-5838-3015-765C-2F1D0DDAF7CF}"/>
              </a:ext>
            </a:extLst>
          </p:cNvPr>
          <p:cNvSpPr txBox="1"/>
          <p:nvPr/>
        </p:nvSpPr>
        <p:spPr>
          <a:xfrm>
            <a:off x="1191236" y="8045954"/>
            <a:ext cx="16255919" cy="2831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Does body size</a:t>
            </a:r>
            <a:r>
              <a:rPr lang="zh-CN" alt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’</a:t>
            </a:r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s impact on gut microbial diversity vary </a:t>
            </a:r>
            <a:r>
              <a:rPr lang="en-US" sz="3600" b="1" dirty="0">
                <a:solidFill>
                  <a:srgbClr val="FF00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significantly</a:t>
            </a:r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by life stage?</a:t>
            </a:r>
          </a:p>
          <a:p>
            <a:endParaRPr lang="en-US" sz="36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  <a:p>
            <a:pPr>
              <a:lnSpc>
                <a:spcPts val="10888"/>
              </a:lnSpc>
            </a:pPr>
            <a:endParaRPr lang="en-US" sz="36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黑暗, 看着, 橙子, 灯光&#10;&#10;描述已自动生成">
            <a:extLst>
              <a:ext uri="{FF2B5EF4-FFF2-40B4-BE49-F238E27FC236}">
                <a16:creationId xmlns:a16="http://schemas.microsoft.com/office/drawing/2014/main" id="{5D8C35B9-BC43-E5BD-A620-203156B31A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13826">
            <a:off x="-3105923" y="70663"/>
            <a:ext cx="11842942" cy="8834605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488A1476-54D7-250D-4863-4BB802884FC6}"/>
              </a:ext>
            </a:extLst>
          </p:cNvPr>
          <p:cNvSpPr txBox="1"/>
          <p:nvPr/>
        </p:nvSpPr>
        <p:spPr>
          <a:xfrm>
            <a:off x="6819900" y="4487967"/>
            <a:ext cx="4648200" cy="1311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7777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3182828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D8D0E30-7C1A-FFA0-EFE8-8C607D1897F8}"/>
              </a:ext>
            </a:extLst>
          </p:cNvPr>
          <p:cNvGrpSpPr/>
          <p:nvPr/>
        </p:nvGrpSpPr>
        <p:grpSpPr>
          <a:xfrm>
            <a:off x="449744" y="876300"/>
            <a:ext cx="2699523" cy="1543079"/>
            <a:chOff x="9525000" y="1028700"/>
            <a:chExt cx="7162800" cy="4572000"/>
          </a:xfrm>
        </p:grpSpPr>
        <p:pic>
          <p:nvPicPr>
            <p:cNvPr id="2050" name="Picture 2" descr="16S Ribosomal RNA | 16S rRNA | Function Of 16S rRNA |">
              <a:extLst>
                <a:ext uri="{FF2B5EF4-FFF2-40B4-BE49-F238E27FC236}">
                  <a16:creationId xmlns:a16="http://schemas.microsoft.com/office/drawing/2014/main" id="{A1F0338D-F12A-5608-D496-A361A8202B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1800" y="1028700"/>
              <a:ext cx="6096000" cy="457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59F16DE-0BD0-1EC8-D9D4-CA9339A19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5000" y="4000500"/>
              <a:ext cx="1752600" cy="1168400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CC9BA7B-A763-9362-4040-51CAF127513D}"/>
              </a:ext>
            </a:extLst>
          </p:cNvPr>
          <p:cNvGrpSpPr/>
          <p:nvPr/>
        </p:nvGrpSpPr>
        <p:grpSpPr>
          <a:xfrm>
            <a:off x="855478" y="3541363"/>
            <a:ext cx="4025348" cy="2086340"/>
            <a:chOff x="5477206" y="437271"/>
            <a:chExt cx="5419394" cy="1455258"/>
          </a:xfrm>
        </p:grpSpPr>
        <p:sp>
          <p:nvSpPr>
            <p:cNvPr id="10" name="对角圆角矩形 9">
              <a:extLst>
                <a:ext uri="{FF2B5EF4-FFF2-40B4-BE49-F238E27FC236}">
                  <a16:creationId xmlns:a16="http://schemas.microsoft.com/office/drawing/2014/main" id="{A3D1E168-DDC8-57B9-8564-CDEB1DA49DA1}"/>
                </a:ext>
              </a:extLst>
            </p:cNvPr>
            <p:cNvSpPr/>
            <p:nvPr/>
          </p:nvSpPr>
          <p:spPr>
            <a:xfrm>
              <a:off x="5477206" y="437271"/>
              <a:ext cx="5419394" cy="1095845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59EBE83-026A-5BBC-871C-0E3A6A286DF9}"/>
                </a:ext>
              </a:extLst>
            </p:cNvPr>
            <p:cNvSpPr txBox="1"/>
            <p:nvPr/>
          </p:nvSpPr>
          <p:spPr>
            <a:xfrm>
              <a:off x="5949583" y="511382"/>
              <a:ext cx="4474640" cy="1381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zh-CN" sz="24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Resource: </a:t>
              </a:r>
              <a:r>
                <a:rPr kumimoji="1"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NCBI</a:t>
              </a:r>
              <a:r>
                <a:rPr kumimoji="1" lang="en-US" altLang="zh-CN" sz="24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>
                <a:lnSpc>
                  <a:spcPct val="120000"/>
                </a:lnSpc>
              </a:pPr>
              <a:r>
                <a:rPr kumimoji="1" lang="en-US" altLang="zh-CN" sz="24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Type: </a:t>
              </a:r>
              <a:r>
                <a:rPr kumimoji="1"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16s rRNA </a:t>
              </a:r>
              <a:r>
                <a:rPr kumimoji="1" lang="en-US" altLang="zh-CN" sz="24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sequence</a:t>
              </a:r>
            </a:p>
            <a:p>
              <a:pPr>
                <a:lnSpc>
                  <a:spcPct val="120000"/>
                </a:lnSpc>
              </a:pPr>
              <a:endParaRPr kumimoji="1" lang="zh-CN" altLang="en-U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056" name="Picture 8" descr="Acquiring Genomic Data from NCBI | D-Lab">
            <a:extLst>
              <a:ext uri="{FF2B5EF4-FFF2-40B4-BE49-F238E27FC236}">
                <a16:creationId xmlns:a16="http://schemas.microsoft.com/office/drawing/2014/main" id="{07106AD1-04DB-6E0E-A13A-27FE5716B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830" y="876300"/>
            <a:ext cx="1623106" cy="183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7AB34F-90DE-67BC-4D11-80EBC1C453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780618" y="3615471"/>
            <a:ext cx="5036765" cy="34713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EBBB6B9C-C9A1-BCD6-2FEF-5CE8B4187BFB}"/>
              </a:ext>
            </a:extLst>
          </p:cNvPr>
          <p:cNvCxnSpPr>
            <a:cxnSpLocks/>
            <a:endCxn id="53" idx="3"/>
          </p:cNvCxnSpPr>
          <p:nvPr/>
        </p:nvCxnSpPr>
        <p:spPr>
          <a:xfrm>
            <a:off x="2935868" y="5112428"/>
            <a:ext cx="1" cy="176653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DA67A29F-8550-CEF9-980A-05E875516AEE}"/>
              </a:ext>
            </a:extLst>
          </p:cNvPr>
          <p:cNvSpPr/>
          <p:nvPr/>
        </p:nvSpPr>
        <p:spPr>
          <a:xfrm>
            <a:off x="7001454" y="6948625"/>
            <a:ext cx="2245574" cy="92091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/>
              <a:t>Shannon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Entropy</a:t>
            </a:r>
            <a:endParaRPr kumimoji="1" lang="zh-CN" altLang="en-US" sz="2000" b="1" dirty="0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CDC55D92-D620-4F4C-4FD2-4468AA556D2D}"/>
              </a:ext>
            </a:extLst>
          </p:cNvPr>
          <p:cNvSpPr/>
          <p:nvPr/>
        </p:nvSpPr>
        <p:spPr>
          <a:xfrm>
            <a:off x="9521958" y="6921168"/>
            <a:ext cx="2245573" cy="920915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/>
              <a:t>Richness</a:t>
            </a:r>
            <a:endParaRPr kumimoji="1" lang="zh-CN" altLang="en-US" sz="2000" b="1" dirty="0"/>
          </a:p>
        </p:txBody>
      </p:sp>
      <p:cxnSp>
        <p:nvCxnSpPr>
          <p:cNvPr id="25" name="肘形连接符 24">
            <a:extLst>
              <a:ext uri="{FF2B5EF4-FFF2-40B4-BE49-F238E27FC236}">
                <a16:creationId xmlns:a16="http://schemas.microsoft.com/office/drawing/2014/main" id="{B2C9AE76-6032-935C-B93C-AAF8E8B3F54A}"/>
              </a:ext>
            </a:extLst>
          </p:cNvPr>
          <p:cNvCxnSpPr>
            <a:stCxn id="22" idx="0"/>
            <a:endCxn id="23" idx="0"/>
          </p:cNvCxnSpPr>
          <p:nvPr/>
        </p:nvCxnSpPr>
        <p:spPr>
          <a:xfrm rot="5400000" flipH="1" flipV="1">
            <a:off x="9370765" y="5674645"/>
            <a:ext cx="27457" cy="2520504"/>
          </a:xfrm>
          <a:prstGeom prst="bentConnector3">
            <a:avLst>
              <a:gd name="adj1" fmla="val 932575"/>
            </a:avLst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AF5781AE-9224-B54E-0232-0960412DFBE9}"/>
              </a:ext>
            </a:extLst>
          </p:cNvPr>
          <p:cNvCxnSpPr>
            <a:cxnSpLocks/>
            <a:stCxn id="53" idx="0"/>
            <a:endCxn id="59" idx="2"/>
          </p:cNvCxnSpPr>
          <p:nvPr/>
        </p:nvCxnSpPr>
        <p:spPr>
          <a:xfrm flipV="1">
            <a:off x="4671555" y="5194978"/>
            <a:ext cx="2839787" cy="246952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2563E28F-5C9B-A2A2-9FFF-C24656CD0AE7}"/>
              </a:ext>
            </a:extLst>
          </p:cNvPr>
          <p:cNvCxnSpPr>
            <a:cxnSpLocks/>
          </p:cNvCxnSpPr>
          <p:nvPr/>
        </p:nvCxnSpPr>
        <p:spPr>
          <a:xfrm flipH="1" flipV="1">
            <a:off x="9319288" y="5971940"/>
            <a:ext cx="19282" cy="72105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五角星 43">
            <a:extLst>
              <a:ext uri="{FF2B5EF4-FFF2-40B4-BE49-F238E27FC236}">
                <a16:creationId xmlns:a16="http://schemas.microsoft.com/office/drawing/2014/main" id="{D00B2262-485E-ED10-BBA6-05E782190127}"/>
              </a:ext>
            </a:extLst>
          </p:cNvPr>
          <p:cNvSpPr/>
          <p:nvPr/>
        </p:nvSpPr>
        <p:spPr>
          <a:xfrm>
            <a:off x="4363743" y="4474220"/>
            <a:ext cx="692516" cy="631211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BB505189-85F1-BB83-A5AD-C5578D48474A}"/>
              </a:ext>
            </a:extLst>
          </p:cNvPr>
          <p:cNvGrpSpPr/>
          <p:nvPr/>
        </p:nvGrpSpPr>
        <p:grpSpPr>
          <a:xfrm>
            <a:off x="1200182" y="6878965"/>
            <a:ext cx="3471373" cy="1571065"/>
            <a:chOff x="5477206" y="437271"/>
            <a:chExt cx="4992064" cy="1095845"/>
          </a:xfrm>
        </p:grpSpPr>
        <p:sp>
          <p:nvSpPr>
            <p:cNvPr id="53" name="对角圆角矩形 52">
              <a:extLst>
                <a:ext uri="{FF2B5EF4-FFF2-40B4-BE49-F238E27FC236}">
                  <a16:creationId xmlns:a16="http://schemas.microsoft.com/office/drawing/2014/main" id="{1A8FD960-C72C-7AD5-DE6D-1F792EAB1B7F}"/>
                </a:ext>
              </a:extLst>
            </p:cNvPr>
            <p:cNvSpPr/>
            <p:nvPr/>
          </p:nvSpPr>
          <p:spPr>
            <a:xfrm>
              <a:off x="5477206" y="437271"/>
              <a:ext cx="4992064" cy="1095845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0E5BFD7E-08BA-8B8A-7D40-D94584C70A2E}"/>
                </a:ext>
              </a:extLst>
            </p:cNvPr>
            <p:cNvSpPr txBox="1"/>
            <p:nvPr/>
          </p:nvSpPr>
          <p:spPr>
            <a:xfrm>
              <a:off x="5855678" y="618251"/>
              <a:ext cx="4474641" cy="660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zh-CN" sz="24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OTU  (</a:t>
              </a:r>
              <a:r>
                <a:rPr lang="en" altLang="zh-CN" sz="2400" b="0" i="0" u="none" strike="noStrike" dirty="0">
                  <a:solidFill>
                    <a:srgbClr val="FFFF00"/>
                  </a:solidFill>
                  <a:effectLst/>
                  <a:latin typeface="-webkit-standard"/>
                </a:rPr>
                <a:t>Operational Taxonomic Unit</a:t>
              </a:r>
              <a:r>
                <a:rPr kumimoji="1" lang="en-US" altLang="zh-CN" sz="24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kumimoji="1" lang="en-US" altLang="zh-CN" sz="2400" b="0" i="0" u="none" strike="noStrike" dirty="0">
                  <a:solidFill>
                    <a:srgbClr val="FFFF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tables</a:t>
              </a:r>
              <a:endParaRPr kumimoji="1" lang="zh-CN" altLang="en-U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060" name="Picture 12" descr="q2Galaxy - Galaxy Community Hub">
            <a:extLst>
              <a:ext uri="{FF2B5EF4-FFF2-40B4-BE49-F238E27FC236}">
                <a16:creationId xmlns:a16="http://schemas.microsoft.com/office/drawing/2014/main" id="{D7659285-5E19-BF41-34F8-83CACCA2A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524" y="5439563"/>
            <a:ext cx="1980125" cy="895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五角星 44">
            <a:extLst>
              <a:ext uri="{FF2B5EF4-FFF2-40B4-BE49-F238E27FC236}">
                <a16:creationId xmlns:a16="http://schemas.microsoft.com/office/drawing/2014/main" id="{700B7075-A2F9-F4C2-5E69-B58E92120F8E}"/>
              </a:ext>
            </a:extLst>
          </p:cNvPr>
          <p:cNvSpPr/>
          <p:nvPr/>
        </p:nvSpPr>
        <p:spPr>
          <a:xfrm>
            <a:off x="4145596" y="8068087"/>
            <a:ext cx="692516" cy="631211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F5AFBF2-9318-5457-D51C-30A7387D2811}"/>
              </a:ext>
            </a:extLst>
          </p:cNvPr>
          <p:cNvGrpSpPr/>
          <p:nvPr/>
        </p:nvGrpSpPr>
        <p:grpSpPr>
          <a:xfrm>
            <a:off x="7511342" y="4409445"/>
            <a:ext cx="3471373" cy="1571065"/>
            <a:chOff x="5477206" y="437271"/>
            <a:chExt cx="4992064" cy="1095845"/>
          </a:xfrm>
        </p:grpSpPr>
        <p:sp>
          <p:nvSpPr>
            <p:cNvPr id="59" name="对角圆角矩形 58">
              <a:extLst>
                <a:ext uri="{FF2B5EF4-FFF2-40B4-BE49-F238E27FC236}">
                  <a16:creationId xmlns:a16="http://schemas.microsoft.com/office/drawing/2014/main" id="{C843B3AA-3CC3-9FBD-CBE0-38BA646C8B3F}"/>
                </a:ext>
              </a:extLst>
            </p:cNvPr>
            <p:cNvSpPr/>
            <p:nvPr/>
          </p:nvSpPr>
          <p:spPr>
            <a:xfrm>
              <a:off x="5477206" y="437271"/>
              <a:ext cx="4992064" cy="1095845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782A95B3-F2AA-E978-3F88-627D50F5C565}"/>
                </a:ext>
              </a:extLst>
            </p:cNvPr>
            <p:cNvSpPr txBox="1"/>
            <p:nvPr/>
          </p:nvSpPr>
          <p:spPr>
            <a:xfrm>
              <a:off x="5855678" y="618251"/>
              <a:ext cx="4474641" cy="65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en-US" altLang="zh-CN" sz="24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Alpha Diversity Analysis</a:t>
              </a:r>
              <a:endParaRPr kumimoji="1" lang="zh-CN" altLang="en-U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6" name="五角星 45">
            <a:extLst>
              <a:ext uri="{FF2B5EF4-FFF2-40B4-BE49-F238E27FC236}">
                <a16:creationId xmlns:a16="http://schemas.microsoft.com/office/drawing/2014/main" id="{CF6FBC92-7A9C-42FD-D2DF-C5332D1D4E7F}"/>
              </a:ext>
            </a:extLst>
          </p:cNvPr>
          <p:cNvSpPr/>
          <p:nvPr/>
        </p:nvSpPr>
        <p:spPr>
          <a:xfrm>
            <a:off x="10456756" y="5349299"/>
            <a:ext cx="692516" cy="631211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048" name="组合 2047">
            <a:extLst>
              <a:ext uri="{FF2B5EF4-FFF2-40B4-BE49-F238E27FC236}">
                <a16:creationId xmlns:a16="http://schemas.microsoft.com/office/drawing/2014/main" id="{5737E4C2-FCE9-C265-142E-3EC9831D2965}"/>
              </a:ext>
            </a:extLst>
          </p:cNvPr>
          <p:cNvGrpSpPr/>
          <p:nvPr/>
        </p:nvGrpSpPr>
        <p:grpSpPr>
          <a:xfrm>
            <a:off x="14172517" y="1299220"/>
            <a:ext cx="3263682" cy="1160162"/>
            <a:chOff x="5722878" y="703025"/>
            <a:chExt cx="4693391" cy="809233"/>
          </a:xfrm>
        </p:grpSpPr>
        <p:sp>
          <p:nvSpPr>
            <p:cNvPr id="2049" name="对角圆角矩形 2048">
              <a:extLst>
                <a:ext uri="{FF2B5EF4-FFF2-40B4-BE49-F238E27FC236}">
                  <a16:creationId xmlns:a16="http://schemas.microsoft.com/office/drawing/2014/main" id="{4C3E1F05-F63B-FFDD-C924-87D613689A45}"/>
                </a:ext>
              </a:extLst>
            </p:cNvPr>
            <p:cNvSpPr/>
            <p:nvPr/>
          </p:nvSpPr>
          <p:spPr>
            <a:xfrm>
              <a:off x="5722878" y="703025"/>
              <a:ext cx="3397000" cy="809233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051" name="文本框 2050">
              <a:extLst>
                <a:ext uri="{FF2B5EF4-FFF2-40B4-BE49-F238E27FC236}">
                  <a16:creationId xmlns:a16="http://schemas.microsoft.com/office/drawing/2014/main" id="{0231015A-0CDF-5251-C3FC-8BAC48498AEE}"/>
                </a:ext>
              </a:extLst>
            </p:cNvPr>
            <p:cNvSpPr txBox="1"/>
            <p:nvPr/>
          </p:nvSpPr>
          <p:spPr>
            <a:xfrm>
              <a:off x="5941628" y="903433"/>
              <a:ext cx="4474641" cy="345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zh-CN" sz="24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Linear Model</a:t>
              </a:r>
              <a:endParaRPr kumimoji="1" lang="zh-CN" altLang="en-U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052" name="直线箭头连接符 2051">
            <a:extLst>
              <a:ext uri="{FF2B5EF4-FFF2-40B4-BE49-F238E27FC236}">
                <a16:creationId xmlns:a16="http://schemas.microsoft.com/office/drawing/2014/main" id="{B086BB3E-CD31-E616-FAF2-21EDCA2B87A0}"/>
              </a:ext>
            </a:extLst>
          </p:cNvPr>
          <p:cNvCxnSpPr>
            <a:cxnSpLocks/>
            <a:endCxn id="2049" idx="2"/>
          </p:cNvCxnSpPr>
          <p:nvPr/>
        </p:nvCxnSpPr>
        <p:spPr>
          <a:xfrm flipV="1">
            <a:off x="10982715" y="1879301"/>
            <a:ext cx="3189802" cy="312980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5" name="五角星 2054">
            <a:extLst>
              <a:ext uri="{FF2B5EF4-FFF2-40B4-BE49-F238E27FC236}">
                <a16:creationId xmlns:a16="http://schemas.microsoft.com/office/drawing/2014/main" id="{C6BBEB8C-B382-372D-B9AA-91A03E597DBC}"/>
              </a:ext>
            </a:extLst>
          </p:cNvPr>
          <p:cNvSpPr/>
          <p:nvPr/>
        </p:nvSpPr>
        <p:spPr>
          <a:xfrm>
            <a:off x="16188459" y="1958037"/>
            <a:ext cx="692516" cy="631211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20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820825" y="0"/>
            <a:ext cx="13641651" cy="10179192"/>
          </a:xfrm>
          <a:custGeom>
            <a:avLst/>
            <a:gdLst/>
            <a:ahLst/>
            <a:cxnLst/>
            <a:rect l="l" t="t" r="r" b="b"/>
            <a:pathLst>
              <a:path w="13641651" h="10179192">
                <a:moveTo>
                  <a:pt x="0" y="0"/>
                </a:moveTo>
                <a:lnTo>
                  <a:pt x="13641650" y="0"/>
                </a:lnTo>
                <a:lnTo>
                  <a:pt x="13641650" y="10179192"/>
                </a:lnTo>
                <a:lnTo>
                  <a:pt x="0" y="101791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88A1476-54D7-250D-4863-4BB802884FC6}"/>
              </a:ext>
            </a:extLst>
          </p:cNvPr>
          <p:cNvSpPr txBox="1"/>
          <p:nvPr/>
        </p:nvSpPr>
        <p:spPr>
          <a:xfrm>
            <a:off x="7467600" y="4229100"/>
            <a:ext cx="13416420" cy="131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7777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5ADD0BE-8B9D-9C1C-EB66-107DD27D6916}"/>
              </a:ext>
            </a:extLst>
          </p:cNvPr>
          <p:cNvSpPr txBox="1"/>
          <p:nvPr/>
        </p:nvSpPr>
        <p:spPr>
          <a:xfrm>
            <a:off x="1730868" y="7379410"/>
            <a:ext cx="47244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·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" altLang="zh-CN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116,156 OTUs 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  <a:p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·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" altLang="zh-CN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8,113 insect samples </a:t>
            </a:r>
          </a:p>
          <a:p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·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 </a:t>
            </a:r>
            <a:r>
              <a:rPr lang="en" altLang="zh-CN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105 insect species</a:t>
            </a:r>
          </a:p>
          <a:p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·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 </a:t>
            </a:r>
            <a:r>
              <a:rPr lang="en" altLang="zh-CN" sz="2800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8 insect orders </a:t>
            </a:r>
          </a:p>
          <a:p>
            <a:endParaRPr lang="en-US" sz="2800" dirty="0">
              <a:solidFill>
                <a:schemeClr val="accent6">
                  <a:lumMod val="50000"/>
                </a:schemeClr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4195933-E816-BC7B-14FF-C9DB5C4AF005}"/>
              </a:ext>
            </a:extLst>
          </p:cNvPr>
          <p:cNvGrpSpPr/>
          <p:nvPr/>
        </p:nvGrpSpPr>
        <p:grpSpPr>
          <a:xfrm>
            <a:off x="1485900" y="2097012"/>
            <a:ext cx="15316200" cy="4795531"/>
            <a:chOff x="308671" y="1441473"/>
            <a:chExt cx="17670658" cy="6130290"/>
          </a:xfrm>
        </p:grpSpPr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B83FE2C5-B8C9-10F1-16A1-EE543C1F4018}"/>
                </a:ext>
              </a:extLst>
            </p:cNvPr>
            <p:cNvSpPr/>
            <p:nvPr/>
          </p:nvSpPr>
          <p:spPr>
            <a:xfrm>
              <a:off x="308671" y="1441473"/>
              <a:ext cx="17670658" cy="61302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30F6E67-5D32-56F7-A287-BC46AE1B07DE}"/>
                </a:ext>
              </a:extLst>
            </p:cNvPr>
            <p:cNvGrpSpPr/>
            <p:nvPr/>
          </p:nvGrpSpPr>
          <p:grpSpPr>
            <a:xfrm>
              <a:off x="6671469" y="2112929"/>
              <a:ext cx="4945062" cy="4836907"/>
              <a:chOff x="6737350" y="2667000"/>
              <a:chExt cx="4813300" cy="4953000"/>
            </a:xfrm>
          </p:grpSpPr>
          <p:pic>
            <p:nvPicPr>
              <p:cNvPr id="15" name="图片 14" descr="图示&#10;&#10;描述已自动生成">
                <a:extLst>
                  <a:ext uri="{FF2B5EF4-FFF2-40B4-BE49-F238E27FC236}">
                    <a16:creationId xmlns:a16="http://schemas.microsoft.com/office/drawing/2014/main" id="{9E16E1F8-C96C-1DF0-6DA5-2EAD53D878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37350" y="2667000"/>
                <a:ext cx="4813300" cy="4953000"/>
              </a:xfrm>
              <a:prstGeom prst="rect">
                <a:avLst/>
              </a:prstGeom>
            </p:spPr>
          </p:pic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5E9AF28C-CCD1-0795-2179-DAD8FC75DA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1801" y="3525648"/>
                <a:ext cx="2514600" cy="1084451"/>
              </a:xfrm>
              <a:prstGeom prst="rect">
                <a:avLst/>
              </a:prstGeom>
            </p:spPr>
          </p:pic>
        </p:grpSp>
        <p:pic>
          <p:nvPicPr>
            <p:cNvPr id="3074" name="Picture 2" descr="Life Cycle – Pollinator Quest">
              <a:extLst>
                <a:ext uri="{FF2B5EF4-FFF2-40B4-BE49-F238E27FC236}">
                  <a16:creationId xmlns:a16="http://schemas.microsoft.com/office/drawing/2014/main" id="{1DC19693-B0D7-F710-FED7-AA6F0F29F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2923" y="2405402"/>
              <a:ext cx="5246104" cy="45139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" name="Picture 8" descr="List of largest insects - Wikipedia">
              <a:extLst>
                <a:ext uri="{FF2B5EF4-FFF2-40B4-BE49-F238E27FC236}">
                  <a16:creationId xmlns:a16="http://schemas.microsoft.com/office/drawing/2014/main" id="{5C3F9E36-03EB-461F-D3C4-D1FEE8D15D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814" b="3693"/>
            <a:stretch/>
          </p:blipFill>
          <p:spPr bwMode="auto">
            <a:xfrm>
              <a:off x="628973" y="2105309"/>
              <a:ext cx="4329758" cy="4836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extBox 3">
            <a:extLst>
              <a:ext uri="{FF2B5EF4-FFF2-40B4-BE49-F238E27FC236}">
                <a16:creationId xmlns:a16="http://schemas.microsoft.com/office/drawing/2014/main" id="{E167AF2D-0F18-BF7E-876D-9BEE3F338288}"/>
              </a:ext>
            </a:extLst>
          </p:cNvPr>
          <p:cNvSpPr txBox="1"/>
          <p:nvPr/>
        </p:nvSpPr>
        <p:spPr>
          <a:xfrm>
            <a:off x="7630938" y="7731709"/>
            <a:ext cx="3026123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Wet mass (mg)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8DA87C9E-709B-DCB0-6A91-4DF7C284B195}"/>
              </a:ext>
            </a:extLst>
          </p:cNvPr>
          <p:cNvSpPr txBox="1"/>
          <p:nvPr/>
        </p:nvSpPr>
        <p:spPr>
          <a:xfrm>
            <a:off x="12671593" y="7475961"/>
            <a:ext cx="472440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·</a:t>
            </a:r>
            <a:r>
              <a:rPr lang="zh-CN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2,526 samples</a:t>
            </a:r>
          </a:p>
          <a:p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·</a:t>
            </a:r>
            <a:r>
              <a:rPr lang="zh-CN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31.14% of total</a:t>
            </a:r>
          </a:p>
          <a:p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·</a:t>
            </a:r>
            <a:r>
              <a:rPr lang="zh-CN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4 insect orders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7938B114-B86E-60EF-946B-9835C3EE0EEE}"/>
              </a:ext>
            </a:extLst>
          </p:cNvPr>
          <p:cNvSpPr txBox="1"/>
          <p:nvPr/>
        </p:nvSpPr>
        <p:spPr>
          <a:xfrm>
            <a:off x="1730868" y="1283365"/>
            <a:ext cx="472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Insect Samples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94BE5AB9-9EDB-AE6B-7764-560CE2F29393}"/>
              </a:ext>
            </a:extLst>
          </p:cNvPr>
          <p:cNvSpPr txBox="1"/>
          <p:nvPr/>
        </p:nvSpPr>
        <p:spPr>
          <a:xfrm>
            <a:off x="6781800" y="1333500"/>
            <a:ext cx="472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Insect Size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E9D7159E-72FC-D313-CB33-6A90C8C0D7F1}"/>
              </a:ext>
            </a:extLst>
          </p:cNvPr>
          <p:cNvSpPr txBox="1"/>
          <p:nvPr/>
        </p:nvSpPr>
        <p:spPr>
          <a:xfrm>
            <a:off x="11506200" y="1331776"/>
            <a:ext cx="52959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Insect 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Lifestages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A326A7A-6CC8-84B0-D6EB-132DDCF0EE57}"/>
              </a:ext>
            </a:extLst>
          </p:cNvPr>
          <p:cNvGrpSpPr/>
          <p:nvPr/>
        </p:nvGrpSpPr>
        <p:grpSpPr>
          <a:xfrm>
            <a:off x="2457450" y="9376668"/>
            <a:ext cx="14344650" cy="523220"/>
            <a:chOff x="2590800" y="9492582"/>
            <a:chExt cx="13743234" cy="523220"/>
          </a:xfrm>
        </p:grpSpPr>
        <p:sp>
          <p:nvSpPr>
            <p:cNvPr id="28" name="圆角矩形 27">
              <a:extLst>
                <a:ext uri="{FF2B5EF4-FFF2-40B4-BE49-F238E27FC236}">
                  <a16:creationId xmlns:a16="http://schemas.microsoft.com/office/drawing/2014/main" id="{158ED466-619B-CC81-E147-B200D75F15F1}"/>
                </a:ext>
              </a:extLst>
            </p:cNvPr>
            <p:cNvSpPr/>
            <p:nvPr/>
          </p:nvSpPr>
          <p:spPr>
            <a:xfrm>
              <a:off x="2590800" y="9492582"/>
              <a:ext cx="13106400" cy="5232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FEB4493-48D0-9079-2451-09A52EB02BC0}"/>
                </a:ext>
              </a:extLst>
            </p:cNvPr>
            <p:cNvSpPr txBox="1"/>
            <p:nvPr/>
          </p:nvSpPr>
          <p:spPr>
            <a:xfrm>
              <a:off x="2770435" y="9492582"/>
              <a:ext cx="135635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" altLang="zh-CN" sz="2800" dirty="0" err="1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Blattodea</a:t>
              </a:r>
              <a:r>
                <a:rPr kumimoji="1" lang="en" altLang="zh-CN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kumimoji="1" lang="zh-CN" altLang="en-US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kumimoji="1" lang="en" altLang="zh-CN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Hemiptera</a:t>
              </a:r>
              <a:r>
                <a:rPr kumimoji="1" lang="zh-CN" altLang="en-US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kumimoji="1" lang="en" altLang="zh-CN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Odonata</a:t>
              </a:r>
              <a:r>
                <a:rPr kumimoji="1" lang="zh-CN" altLang="en-US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kumimoji="1" lang="en" altLang="zh-CN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Orthoptera</a:t>
              </a:r>
              <a:r>
                <a:rPr kumimoji="1" lang="zh-CN" altLang="en-US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 </a:t>
              </a:r>
              <a:r>
                <a:rPr kumimoji="1" lang="en" altLang="zh-CN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Coleoptera</a:t>
              </a:r>
              <a:r>
                <a:rPr kumimoji="1" lang="zh-CN" altLang="en-US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kumimoji="1" lang="en" altLang="zh-CN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Diptera</a:t>
              </a:r>
              <a:r>
                <a:rPr kumimoji="1" lang="zh-CN" altLang="en-US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 </a:t>
              </a:r>
              <a:r>
                <a:rPr kumimoji="1" lang="en" altLang="zh-CN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Hymenoptera</a:t>
              </a:r>
              <a:r>
                <a:rPr kumimoji="1" lang="zh-CN" altLang="en-US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kumimoji="1" lang="en" altLang="zh-CN" sz="28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Lepidoptera </a:t>
              </a:r>
              <a:endParaRPr kumimoji="1" lang="zh-CN" altLang="en-US" sz="28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828F798-19AB-0821-BACF-B4A58B1C3D84}"/>
              </a:ext>
            </a:extLst>
          </p:cNvPr>
          <p:cNvSpPr/>
          <p:nvPr/>
        </p:nvSpPr>
        <p:spPr>
          <a:xfrm>
            <a:off x="9058308" y="9123928"/>
            <a:ext cx="7266585" cy="1028700"/>
          </a:xfrm>
          <a:prstGeom prst="roundRect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曲线连接符 31">
            <a:extLst>
              <a:ext uri="{FF2B5EF4-FFF2-40B4-BE49-F238E27FC236}">
                <a16:creationId xmlns:a16="http://schemas.microsoft.com/office/drawing/2014/main" id="{18F91678-40C3-A95B-E957-03B925009883}"/>
              </a:ext>
            </a:extLst>
          </p:cNvPr>
          <p:cNvCxnSpPr>
            <a:stCxn id="28" idx="1"/>
          </p:cNvCxnSpPr>
          <p:nvPr/>
        </p:nvCxnSpPr>
        <p:spPr>
          <a:xfrm rot="10800000">
            <a:off x="2133600" y="9123928"/>
            <a:ext cx="323850" cy="514350"/>
          </a:xfrm>
          <a:prstGeom prst="curvedConnector2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曲线连接符 37">
            <a:extLst>
              <a:ext uri="{FF2B5EF4-FFF2-40B4-BE49-F238E27FC236}">
                <a16:creationId xmlns:a16="http://schemas.microsoft.com/office/drawing/2014/main" id="{E58CEF65-65E9-2522-8190-E5F22DDAB16F}"/>
              </a:ext>
            </a:extLst>
          </p:cNvPr>
          <p:cNvCxnSpPr>
            <a:cxnSpLocks/>
            <a:stCxn id="29" idx="3"/>
          </p:cNvCxnSpPr>
          <p:nvPr/>
        </p:nvCxnSpPr>
        <p:spPr>
          <a:xfrm flipH="1" flipV="1">
            <a:off x="16035166" y="8768623"/>
            <a:ext cx="289727" cy="869655"/>
          </a:xfrm>
          <a:prstGeom prst="curvedConnector4">
            <a:avLst>
              <a:gd name="adj1" fmla="val -78902"/>
              <a:gd name="adj2" fmla="val 79572"/>
            </a:avLst>
          </a:prstGeom>
          <a:ln w="635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451EE557-726C-B8E8-A129-52EEB4D08F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83244" y="5693519"/>
            <a:ext cx="1066800" cy="4445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3C19E0E-F872-2DE8-FE89-1AA67E0F1653}"/>
              </a:ext>
            </a:extLst>
          </p:cNvPr>
          <p:cNvSpPr txBox="1"/>
          <p:nvPr/>
        </p:nvSpPr>
        <p:spPr>
          <a:xfrm>
            <a:off x="15527254" y="5693519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pupa</a:t>
            </a:r>
            <a:endParaRPr kumimoji="1" lang="zh-CN" alt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3464D294-20DF-5AF9-F1B3-D63F2CA7E1FC}"/>
              </a:ext>
            </a:extLst>
          </p:cNvPr>
          <p:cNvGrpSpPr/>
          <p:nvPr/>
        </p:nvGrpSpPr>
        <p:grpSpPr>
          <a:xfrm>
            <a:off x="310328" y="419100"/>
            <a:ext cx="17667344" cy="8107421"/>
            <a:chOff x="525734" y="810261"/>
            <a:chExt cx="17667344" cy="8107421"/>
          </a:xfrm>
        </p:grpSpPr>
        <p:pic>
          <p:nvPicPr>
            <p:cNvPr id="14" name="图片 13" descr="图表, 折线图&#10;&#10;描述已自动生成">
              <a:extLst>
                <a:ext uri="{FF2B5EF4-FFF2-40B4-BE49-F238E27FC236}">
                  <a16:creationId xmlns:a16="http://schemas.microsoft.com/office/drawing/2014/main" id="{22D1A472-4067-26EA-5D9E-E62BC4B3F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1670" y="810261"/>
              <a:ext cx="11181408" cy="8107419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81A2705-10E3-26FD-DB8A-8AD16D715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5734" y="810262"/>
              <a:ext cx="6485936" cy="8107420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22C0052-4A70-F5B5-FA57-D158CC3C58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2470" t="8344" r="11976" b="4239"/>
            <a:stretch/>
          </p:blipFill>
          <p:spPr>
            <a:xfrm>
              <a:off x="8126819" y="2942636"/>
              <a:ext cx="926534" cy="112517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649A758-06C0-AA21-E548-96C9B45C0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14154" y="4587779"/>
              <a:ext cx="978001" cy="1125176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B7338CA-0699-7099-1348-B492642E4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54256" y="5336083"/>
              <a:ext cx="1032225" cy="1051887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89C9A33-C1D9-64E5-CD02-6EF6BE950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920446" y="4209292"/>
              <a:ext cx="978002" cy="738115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D61E66F-490F-ACB2-6D18-718B3429D3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8198" t="12866" r="17956" b="22345"/>
            <a:stretch/>
          </p:blipFill>
          <p:spPr>
            <a:xfrm>
              <a:off x="17436606" y="6411130"/>
              <a:ext cx="361679" cy="346609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6EBA506-4064-58C7-AC6A-9C1999A0F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155794" y="4587779"/>
              <a:ext cx="978002" cy="94791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E1D6E1C-26FF-711B-D089-F94BA5592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014247" y="5820610"/>
              <a:ext cx="559783" cy="67461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B6BCF7A6-6EE4-EEBE-2C13-A6D3FB447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607801" y="5336083"/>
              <a:ext cx="766968" cy="674611"/>
            </a:xfrm>
            <a:prstGeom prst="rect">
              <a:avLst/>
            </a:prstGeom>
          </p:spPr>
        </p:pic>
      </p:grpSp>
      <p:sp>
        <p:nvSpPr>
          <p:cNvPr id="17" name="TextBox 3">
            <a:extLst>
              <a:ext uri="{FF2B5EF4-FFF2-40B4-BE49-F238E27FC236}">
                <a16:creationId xmlns:a16="http://schemas.microsoft.com/office/drawing/2014/main" id="{CBE7C504-17CF-9DA0-9039-918D360086B3}"/>
              </a:ext>
            </a:extLst>
          </p:cNvPr>
          <p:cNvSpPr txBox="1"/>
          <p:nvPr/>
        </p:nvSpPr>
        <p:spPr>
          <a:xfrm>
            <a:off x="5077337" y="9094835"/>
            <a:ext cx="12686238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Relationships Between Diversity, </a:t>
            </a:r>
            <a:r>
              <a:rPr lang="en-US" altLang="zh-CN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Body Mass</a:t>
            </a:r>
            <a:r>
              <a:rPr lang="en-US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, and</a:t>
            </a:r>
            <a:r>
              <a:rPr lang="zh-CN" altLang="en-US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Insect Orders</a:t>
            </a:r>
            <a:endParaRPr lang="en-US" sz="2800" b="1" dirty="0">
              <a:solidFill>
                <a:schemeClr val="bg1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31C3E9-CD7D-564F-468D-D8F216B9EFFB}"/>
              </a:ext>
            </a:extLst>
          </p:cNvPr>
          <p:cNvSpPr txBox="1"/>
          <p:nvPr/>
        </p:nvSpPr>
        <p:spPr>
          <a:xfrm>
            <a:off x="8032999" y="3673400"/>
            <a:ext cx="845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Cockroach</a:t>
            </a:r>
            <a:endParaRPr kumimoji="1" lang="zh-CN" altLang="en-US" sz="1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4DFDA74-C967-2424-DEC0-1215B5885431}"/>
              </a:ext>
            </a:extLst>
          </p:cNvPr>
          <p:cNvSpPr txBox="1"/>
          <p:nvPr/>
        </p:nvSpPr>
        <p:spPr>
          <a:xfrm>
            <a:off x="9251783" y="5260760"/>
            <a:ext cx="804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Beetle</a:t>
            </a:r>
            <a:endParaRPr kumimoji="1" lang="zh-CN" altLang="en-US" sz="1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9D4BD6-067C-D6BA-64EF-6ED1CAE68AA3}"/>
              </a:ext>
            </a:extLst>
          </p:cNvPr>
          <p:cNvSpPr txBox="1"/>
          <p:nvPr/>
        </p:nvSpPr>
        <p:spPr>
          <a:xfrm>
            <a:off x="10405651" y="5857838"/>
            <a:ext cx="9183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Grasshopper</a:t>
            </a:r>
            <a:endParaRPr kumimoji="1" lang="zh-CN" altLang="en-US" sz="1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033911-0010-4D4C-E125-3F14360B0EEF}"/>
              </a:ext>
            </a:extLst>
          </p:cNvPr>
          <p:cNvSpPr txBox="1"/>
          <p:nvPr/>
        </p:nvSpPr>
        <p:spPr>
          <a:xfrm>
            <a:off x="11910783" y="4505750"/>
            <a:ext cx="9183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Butterfly</a:t>
            </a:r>
            <a:endParaRPr kumimoji="1" lang="zh-CN" altLang="en-US" sz="1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F40186-CA95-0DD2-FCC8-42B334AC5B5E}"/>
              </a:ext>
            </a:extLst>
          </p:cNvPr>
          <p:cNvSpPr txBox="1"/>
          <p:nvPr/>
        </p:nvSpPr>
        <p:spPr>
          <a:xfrm>
            <a:off x="13128057" y="5074943"/>
            <a:ext cx="9183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Dragonfly</a:t>
            </a:r>
            <a:endParaRPr kumimoji="1" lang="zh-CN" altLang="en-US" sz="1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01A7D5-C135-0C6F-7F82-EECF5DCDB420}"/>
              </a:ext>
            </a:extLst>
          </p:cNvPr>
          <p:cNvSpPr txBox="1"/>
          <p:nvPr/>
        </p:nvSpPr>
        <p:spPr>
          <a:xfrm>
            <a:off x="14586943" y="5611617"/>
            <a:ext cx="9183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Bee</a:t>
            </a:r>
            <a:endParaRPr kumimoji="1" lang="zh-CN" altLang="en-US" sz="1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5FF9141-5DCA-6257-5A5C-878BA1A42AFC}"/>
              </a:ext>
            </a:extLst>
          </p:cNvPr>
          <p:cNvSpPr txBox="1"/>
          <p:nvPr/>
        </p:nvSpPr>
        <p:spPr>
          <a:xfrm>
            <a:off x="15768696" y="6070162"/>
            <a:ext cx="9183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True bug</a:t>
            </a:r>
            <a:endParaRPr kumimoji="1" lang="zh-CN" altLang="en-US" sz="1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ECA78C4-FED6-9F91-5A2B-0810ECF92B81}"/>
              </a:ext>
            </a:extLst>
          </p:cNvPr>
          <p:cNvSpPr txBox="1"/>
          <p:nvPr/>
        </p:nvSpPr>
        <p:spPr>
          <a:xfrm>
            <a:off x="17256689" y="6316383"/>
            <a:ext cx="9183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Fly</a:t>
            </a:r>
            <a:endParaRPr kumimoji="1" lang="zh-CN" altLang="en-US" sz="1000" dirty="0"/>
          </a:p>
        </p:txBody>
      </p:sp>
      <p:sp>
        <p:nvSpPr>
          <p:cNvPr id="26" name="五角星 25">
            <a:extLst>
              <a:ext uri="{FF2B5EF4-FFF2-40B4-BE49-F238E27FC236}">
                <a16:creationId xmlns:a16="http://schemas.microsoft.com/office/drawing/2014/main" id="{A3E787ED-F062-2B4C-CC06-BF18C58DB417}"/>
              </a:ext>
            </a:extLst>
          </p:cNvPr>
          <p:cNvSpPr/>
          <p:nvPr/>
        </p:nvSpPr>
        <p:spPr>
          <a:xfrm>
            <a:off x="914400" y="4196618"/>
            <a:ext cx="304800" cy="309132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五角星 26">
            <a:extLst>
              <a:ext uri="{FF2B5EF4-FFF2-40B4-BE49-F238E27FC236}">
                <a16:creationId xmlns:a16="http://schemas.microsoft.com/office/drawing/2014/main" id="{68309606-FA8C-1A04-A149-242080252B07}"/>
              </a:ext>
            </a:extLst>
          </p:cNvPr>
          <p:cNvSpPr/>
          <p:nvPr/>
        </p:nvSpPr>
        <p:spPr>
          <a:xfrm>
            <a:off x="1582688" y="4197439"/>
            <a:ext cx="304800" cy="309132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五角星 27">
            <a:extLst>
              <a:ext uri="{FF2B5EF4-FFF2-40B4-BE49-F238E27FC236}">
                <a16:creationId xmlns:a16="http://schemas.microsoft.com/office/drawing/2014/main" id="{E8221B73-DF27-BB2F-B6B6-D1B67A95E0D0}"/>
              </a:ext>
            </a:extLst>
          </p:cNvPr>
          <p:cNvSpPr/>
          <p:nvPr/>
        </p:nvSpPr>
        <p:spPr>
          <a:xfrm>
            <a:off x="914400" y="8128701"/>
            <a:ext cx="304800" cy="309132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五角星 28">
            <a:extLst>
              <a:ext uri="{FF2B5EF4-FFF2-40B4-BE49-F238E27FC236}">
                <a16:creationId xmlns:a16="http://schemas.microsoft.com/office/drawing/2014/main" id="{68AEAFCF-5930-1BF7-C122-3420EDA7358F}"/>
              </a:ext>
            </a:extLst>
          </p:cNvPr>
          <p:cNvSpPr/>
          <p:nvPr/>
        </p:nvSpPr>
        <p:spPr>
          <a:xfrm>
            <a:off x="1582688" y="8128701"/>
            <a:ext cx="304800" cy="309132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五角星 29">
            <a:extLst>
              <a:ext uri="{FF2B5EF4-FFF2-40B4-BE49-F238E27FC236}">
                <a16:creationId xmlns:a16="http://schemas.microsoft.com/office/drawing/2014/main" id="{7792E053-DA07-832A-8BAC-E10B711E2CD9}"/>
              </a:ext>
            </a:extLst>
          </p:cNvPr>
          <p:cNvSpPr/>
          <p:nvPr/>
        </p:nvSpPr>
        <p:spPr>
          <a:xfrm>
            <a:off x="8221024" y="4054873"/>
            <a:ext cx="304800" cy="309132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五角星 30">
            <a:extLst>
              <a:ext uri="{FF2B5EF4-FFF2-40B4-BE49-F238E27FC236}">
                <a16:creationId xmlns:a16="http://schemas.microsoft.com/office/drawing/2014/main" id="{01C87FDA-9F8D-6E1E-AFA1-C9C6C5C3D9EE}"/>
              </a:ext>
            </a:extLst>
          </p:cNvPr>
          <p:cNvSpPr/>
          <p:nvPr/>
        </p:nvSpPr>
        <p:spPr>
          <a:xfrm>
            <a:off x="9335348" y="5619533"/>
            <a:ext cx="304800" cy="309132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五角星 31">
            <a:extLst>
              <a:ext uri="{FF2B5EF4-FFF2-40B4-BE49-F238E27FC236}">
                <a16:creationId xmlns:a16="http://schemas.microsoft.com/office/drawing/2014/main" id="{AAB56FA2-BBA2-2CED-2A80-58EAC81CEC71}"/>
              </a:ext>
            </a:extLst>
          </p:cNvPr>
          <p:cNvSpPr/>
          <p:nvPr/>
        </p:nvSpPr>
        <p:spPr>
          <a:xfrm>
            <a:off x="3019896" y="4194012"/>
            <a:ext cx="304800" cy="309132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五角星 32">
            <a:extLst>
              <a:ext uri="{FF2B5EF4-FFF2-40B4-BE49-F238E27FC236}">
                <a16:creationId xmlns:a16="http://schemas.microsoft.com/office/drawing/2014/main" id="{BA049213-D621-3B0C-F58E-BA2CECE538CB}"/>
              </a:ext>
            </a:extLst>
          </p:cNvPr>
          <p:cNvSpPr/>
          <p:nvPr/>
        </p:nvSpPr>
        <p:spPr>
          <a:xfrm>
            <a:off x="3020774" y="8123489"/>
            <a:ext cx="304800" cy="309132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五角星 33">
            <a:extLst>
              <a:ext uri="{FF2B5EF4-FFF2-40B4-BE49-F238E27FC236}">
                <a16:creationId xmlns:a16="http://schemas.microsoft.com/office/drawing/2014/main" id="{7D8A1523-5252-3173-01ED-7B7835172B6F}"/>
              </a:ext>
            </a:extLst>
          </p:cNvPr>
          <p:cNvSpPr/>
          <p:nvPr/>
        </p:nvSpPr>
        <p:spPr>
          <a:xfrm>
            <a:off x="12047166" y="4817570"/>
            <a:ext cx="304800" cy="309132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五角星 34">
            <a:extLst>
              <a:ext uri="{FF2B5EF4-FFF2-40B4-BE49-F238E27FC236}">
                <a16:creationId xmlns:a16="http://schemas.microsoft.com/office/drawing/2014/main" id="{81A942F9-6E4C-A7B5-08C8-DC3AD5A92A38}"/>
              </a:ext>
            </a:extLst>
          </p:cNvPr>
          <p:cNvSpPr/>
          <p:nvPr/>
        </p:nvSpPr>
        <p:spPr>
          <a:xfrm>
            <a:off x="157928" y="9804253"/>
            <a:ext cx="304800" cy="309132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0B277A6-1E97-00C3-E569-603B56992625}"/>
              </a:ext>
            </a:extLst>
          </p:cNvPr>
          <p:cNvSpPr txBox="1"/>
          <p:nvPr/>
        </p:nvSpPr>
        <p:spPr>
          <a:xfrm>
            <a:off x="440316" y="9811166"/>
            <a:ext cx="58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" altLang="zh-CN" u="none" strike="noStrike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ankings remain consistent across all three variables</a:t>
            </a:r>
            <a:endParaRPr kumimoji="1" lang="zh-CN" altLang="en-US" dirty="0">
              <a:solidFill>
                <a:schemeClr val="accent6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644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绿色对号对勾打勾正确答对了图标符号mov格式模板视频素材下载_4992711-潮点视频">
            <a:extLst>
              <a:ext uri="{FF2B5EF4-FFF2-40B4-BE49-F238E27FC236}">
                <a16:creationId xmlns:a16="http://schemas.microsoft.com/office/drawing/2014/main" id="{D112FB73-0750-65C0-B857-C160AB02C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3375" y="5061469"/>
            <a:ext cx="37973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67A39A9-DECB-CCB7-7B44-17BC85BD0B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77448" y="1896127"/>
            <a:ext cx="9423508" cy="6494745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6119E0CF-9553-06AE-032B-C5E21A7E2A7D}"/>
              </a:ext>
            </a:extLst>
          </p:cNvPr>
          <p:cNvSpPr txBox="1"/>
          <p:nvPr/>
        </p:nvSpPr>
        <p:spPr>
          <a:xfrm>
            <a:off x="7924800" y="3543300"/>
            <a:ext cx="9875875" cy="2139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There is a significant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positive</a:t>
            </a:r>
            <a:r>
              <a:rPr lang="en-US" sz="32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correlation between insect body mass and gut microbial diversity </a:t>
            </a:r>
          </a:p>
        </p:txBody>
      </p:sp>
    </p:spTree>
    <p:extLst>
      <p:ext uri="{BB962C8B-B14F-4D97-AF65-F5344CB8AC3E}">
        <p14:creationId xmlns:p14="http://schemas.microsoft.com/office/powerpoint/2010/main" val="353165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BBD40DB1-4831-0CBB-9542-6C3F6A4B68B8}"/>
              </a:ext>
            </a:extLst>
          </p:cNvPr>
          <p:cNvGrpSpPr/>
          <p:nvPr/>
        </p:nvGrpSpPr>
        <p:grpSpPr>
          <a:xfrm>
            <a:off x="838200" y="571500"/>
            <a:ext cx="16611600" cy="8137712"/>
            <a:chOff x="1880331" y="587188"/>
            <a:chExt cx="15008969" cy="6994712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A1F61A92-E2B0-D021-DD96-6E4C09AFF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80331" y="587188"/>
              <a:ext cx="4896298" cy="6994712"/>
            </a:xfrm>
            <a:prstGeom prst="rect">
              <a:avLst/>
            </a:prstGeom>
          </p:spPr>
        </p:pic>
        <p:pic>
          <p:nvPicPr>
            <p:cNvPr id="4" name="图片 3" descr="图表, 折线图&#10;&#10;描述已自动生成">
              <a:extLst>
                <a:ext uri="{FF2B5EF4-FFF2-40B4-BE49-F238E27FC236}">
                  <a16:creationId xmlns:a16="http://schemas.microsoft.com/office/drawing/2014/main" id="{94B0AA53-CDFE-AB23-042B-502B5FE00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6629" y="587188"/>
              <a:ext cx="10112671" cy="6994712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835B36E-A795-CC1D-014D-7B08D2A1C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03175" y="1166254"/>
              <a:ext cx="978001" cy="1125176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0FF35DE-0CB4-D197-AC14-BF48963F2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03175" y="3809589"/>
              <a:ext cx="978002" cy="738115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7BD2088-3F40-92F0-E2F6-6BEB0C6474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8198" t="12866" r="17956" b="22345"/>
            <a:stretch/>
          </p:blipFill>
          <p:spPr>
            <a:xfrm>
              <a:off x="8984252" y="5513831"/>
              <a:ext cx="615845" cy="590185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218D435-33EF-1EAA-73D2-9ED252AD14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9484"/>
            <a:stretch/>
          </p:blipFill>
          <p:spPr>
            <a:xfrm>
              <a:off x="9144000" y="6743699"/>
              <a:ext cx="358711" cy="285591"/>
            </a:xfrm>
            <a:prstGeom prst="rect">
              <a:avLst/>
            </a:prstGeom>
          </p:spPr>
        </p:pic>
      </p:grpSp>
      <p:sp>
        <p:nvSpPr>
          <p:cNvPr id="9" name="TextBox 3">
            <a:extLst>
              <a:ext uri="{FF2B5EF4-FFF2-40B4-BE49-F238E27FC236}">
                <a16:creationId xmlns:a16="http://schemas.microsoft.com/office/drawing/2014/main" id="{16A172D5-97D8-5D10-3629-28EDE7DC2E99}"/>
              </a:ext>
            </a:extLst>
          </p:cNvPr>
          <p:cNvSpPr txBox="1"/>
          <p:nvPr/>
        </p:nvSpPr>
        <p:spPr>
          <a:xfrm>
            <a:off x="4038600" y="9237980"/>
            <a:ext cx="13981638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Relationships Between Diversity,</a:t>
            </a:r>
            <a:r>
              <a:rPr lang="en-US" altLang="zh-CN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Body Mass</a:t>
            </a:r>
            <a:r>
              <a:rPr lang="en-US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, and </a:t>
            </a:r>
            <a:r>
              <a:rPr lang="en-US" altLang="zh-CN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Insect </a:t>
            </a:r>
            <a:r>
              <a:rPr lang="en-US" altLang="zh-CN" sz="2800" b="1" dirty="0" err="1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Lifestage</a:t>
            </a:r>
            <a:endParaRPr lang="en-US" sz="2800" b="1" dirty="0">
              <a:solidFill>
                <a:schemeClr val="bg1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</p:spTree>
    <p:extLst>
      <p:ext uri="{BB962C8B-B14F-4D97-AF65-F5344CB8AC3E}">
        <p14:creationId xmlns:p14="http://schemas.microsoft.com/office/powerpoint/2010/main" val="1882498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" descr="绿色对号对勾打勾正确答对了图标符号mov格式模板视频素材下载_4992711-潮点视频">
            <a:extLst>
              <a:ext uri="{FF2B5EF4-FFF2-40B4-BE49-F238E27FC236}">
                <a16:creationId xmlns:a16="http://schemas.microsoft.com/office/drawing/2014/main" id="{C44D4122-0026-FCCD-245C-52957BAF2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420" y="7866021"/>
            <a:ext cx="37973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7DAB0421-D55F-1FC4-EDD7-DDF97AD967BF}"/>
              </a:ext>
            </a:extLst>
          </p:cNvPr>
          <p:cNvGrpSpPr/>
          <p:nvPr/>
        </p:nvGrpSpPr>
        <p:grpSpPr>
          <a:xfrm>
            <a:off x="6643575" y="787169"/>
            <a:ext cx="9434297" cy="5138794"/>
            <a:chOff x="7287734" y="431746"/>
            <a:chExt cx="8839200" cy="4452428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D5BA088-7EBE-07A2-1366-FB659DCB2556}"/>
                </a:ext>
              </a:extLst>
            </p:cNvPr>
            <p:cNvGrpSpPr/>
            <p:nvPr/>
          </p:nvGrpSpPr>
          <p:grpSpPr>
            <a:xfrm>
              <a:off x="7287734" y="431746"/>
              <a:ext cx="8839200" cy="4452428"/>
              <a:chOff x="7696200" y="462472"/>
              <a:chExt cx="7772400" cy="3730362"/>
            </a:xfrm>
          </p:grpSpPr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29B1D2DA-7443-4CAE-55EC-919A27E813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96200" y="462472"/>
                <a:ext cx="7772400" cy="3730362"/>
              </a:xfrm>
              <a:prstGeom prst="rect">
                <a:avLst/>
              </a:prstGeom>
            </p:spPr>
          </p:pic>
          <p:sp>
            <p:nvSpPr>
              <p:cNvPr id="20" name="圆角矩形 19">
                <a:extLst>
                  <a:ext uri="{FF2B5EF4-FFF2-40B4-BE49-F238E27FC236}">
                    <a16:creationId xmlns:a16="http://schemas.microsoft.com/office/drawing/2014/main" id="{80636E50-D13A-4951-D84F-31CF1CA1D79E}"/>
                  </a:ext>
                </a:extLst>
              </p:cNvPr>
              <p:cNvSpPr/>
              <p:nvPr/>
            </p:nvSpPr>
            <p:spPr>
              <a:xfrm>
                <a:off x="12420600" y="1638300"/>
                <a:ext cx="2057400" cy="228600"/>
              </a:xfrm>
              <a:prstGeom prst="round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" name="圆角矩形 20">
                <a:extLst>
                  <a:ext uri="{FF2B5EF4-FFF2-40B4-BE49-F238E27FC236}">
                    <a16:creationId xmlns:a16="http://schemas.microsoft.com/office/drawing/2014/main" id="{756B8668-F492-DC7D-D204-F5DAB87948D0}"/>
                  </a:ext>
                </a:extLst>
              </p:cNvPr>
              <p:cNvSpPr/>
              <p:nvPr/>
            </p:nvSpPr>
            <p:spPr>
              <a:xfrm>
                <a:off x="12420600" y="2099053"/>
                <a:ext cx="2057400" cy="228600"/>
              </a:xfrm>
              <a:prstGeom prst="round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F4B93BF-3FA0-13B7-D8A2-ED2D4F620425}"/>
                </a:ext>
              </a:extLst>
            </p:cNvPr>
            <p:cNvSpPr/>
            <p:nvPr/>
          </p:nvSpPr>
          <p:spPr>
            <a:xfrm>
              <a:off x="11125200" y="1835173"/>
              <a:ext cx="1143000" cy="2728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1801322-98ED-B566-2BA8-651A378EF0CF}"/>
                </a:ext>
              </a:extLst>
            </p:cNvPr>
            <p:cNvSpPr/>
            <p:nvPr/>
          </p:nvSpPr>
          <p:spPr>
            <a:xfrm>
              <a:off x="11468100" y="2425353"/>
              <a:ext cx="1143000" cy="2728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TextBox 3">
            <a:extLst>
              <a:ext uri="{FF2B5EF4-FFF2-40B4-BE49-F238E27FC236}">
                <a16:creationId xmlns:a16="http://schemas.microsoft.com/office/drawing/2014/main" id="{064D0743-879B-DD23-AE96-275601E78C1F}"/>
              </a:ext>
            </a:extLst>
          </p:cNvPr>
          <p:cNvSpPr txBox="1"/>
          <p:nvPr/>
        </p:nvSpPr>
        <p:spPr>
          <a:xfrm>
            <a:off x="7021411" y="6342337"/>
            <a:ext cx="9875875" cy="1400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The impact of body size on gut microbial diversity varies </a:t>
            </a:r>
            <a:r>
              <a:rPr lang="en-US" sz="3200" b="1" dirty="0">
                <a:solidFill>
                  <a:schemeClr val="accent6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significantly</a:t>
            </a:r>
            <a:r>
              <a:rPr lang="en-US" sz="32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by life stage.</a:t>
            </a:r>
          </a:p>
        </p:txBody>
      </p:sp>
      <p:pic>
        <p:nvPicPr>
          <p:cNvPr id="40" name="图片 39" descr="图表&#10;&#10;描述已自动生成">
            <a:extLst>
              <a:ext uri="{FF2B5EF4-FFF2-40B4-BE49-F238E27FC236}">
                <a16:creationId xmlns:a16="http://schemas.microsoft.com/office/drawing/2014/main" id="{A87BCEF0-B988-D23F-1919-DAEF445A4B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93" y="787169"/>
            <a:ext cx="5647148" cy="8470722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7E3B93AA-199B-2A0E-293A-1E8EC4A4C3FB}"/>
              </a:ext>
            </a:extLst>
          </p:cNvPr>
          <p:cNvSpPr txBox="1"/>
          <p:nvPr/>
        </p:nvSpPr>
        <p:spPr>
          <a:xfrm>
            <a:off x="5428461" y="2838827"/>
            <a:ext cx="1211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i="1" dirty="0"/>
              <a:t>P-value***</a:t>
            </a:r>
            <a:endParaRPr kumimoji="1" lang="zh-CN" altLang="en-US" sz="1000" i="1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CF6733D-4CC3-A1D2-8E7D-B90FAAF507A0}"/>
              </a:ext>
            </a:extLst>
          </p:cNvPr>
          <p:cNvSpPr txBox="1"/>
          <p:nvPr/>
        </p:nvSpPr>
        <p:spPr>
          <a:xfrm>
            <a:off x="5472220" y="6440587"/>
            <a:ext cx="1211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i="1" dirty="0"/>
              <a:t>P-value***</a:t>
            </a:r>
            <a:endParaRPr kumimoji="1" lang="zh-CN" altLang="en-US" sz="1000" i="1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B3C28B5-42C8-C246-91E6-D13043C47DFC}"/>
              </a:ext>
            </a:extLst>
          </p:cNvPr>
          <p:cNvSpPr txBox="1"/>
          <p:nvPr/>
        </p:nvSpPr>
        <p:spPr>
          <a:xfrm>
            <a:off x="1040293" y="9526208"/>
            <a:ext cx="1211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i="1" dirty="0">
                <a:solidFill>
                  <a:schemeClr val="bg1"/>
                </a:solidFill>
              </a:rPr>
              <a:t>P-value*** &lt; 0.01</a:t>
            </a:r>
            <a:endParaRPr kumimoji="1" lang="zh-CN" altLang="en-US" sz="1000" i="1" dirty="0">
              <a:solidFill>
                <a:schemeClr val="bg1"/>
              </a:solidFill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3F2836B1-A360-D8F1-F60A-ADFAFB8413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118" y="3624883"/>
            <a:ext cx="9482735" cy="262088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160A56D4-2445-4AD5-CD01-635165704DFD}"/>
              </a:ext>
            </a:extLst>
          </p:cNvPr>
          <p:cNvGrpSpPr/>
          <p:nvPr/>
        </p:nvGrpSpPr>
        <p:grpSpPr>
          <a:xfrm>
            <a:off x="9306294" y="3045471"/>
            <a:ext cx="5874695" cy="2600185"/>
            <a:chOff x="16012633" y="-340242"/>
            <a:chExt cx="6412190" cy="260018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A0225B8-4F21-BAF2-FE17-7C409178A54B}"/>
                </a:ext>
              </a:extLst>
            </p:cNvPr>
            <p:cNvSpPr txBox="1"/>
            <p:nvPr/>
          </p:nvSpPr>
          <p:spPr>
            <a:xfrm>
              <a:off x="16649700" y="820034"/>
              <a:ext cx="3276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600" dirty="0">
                  <a:solidFill>
                    <a:schemeClr val="accent6"/>
                  </a:solidFill>
                </a:rPr>
                <a:t>AIC BIC</a:t>
              </a:r>
              <a:endParaRPr kumimoji="1" lang="zh-CN" altLang="en-US" sz="3600" dirty="0">
                <a:solidFill>
                  <a:schemeClr val="accent6"/>
                </a:solidFill>
              </a:endParaRPr>
            </a:p>
          </p:txBody>
        </p:sp>
        <p:pic>
          <p:nvPicPr>
            <p:cNvPr id="6" name="Picture 4" descr="箭头红色下降向下符号视频特效素材-千库网">
              <a:extLst>
                <a:ext uri="{FF2B5EF4-FFF2-40B4-BE49-F238E27FC236}">
                  <a16:creationId xmlns:a16="http://schemas.microsoft.com/office/drawing/2014/main" id="{F8C828D6-E725-198C-D1A2-890E8AD497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81968" y="1380459"/>
              <a:ext cx="981740" cy="805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7557416-F5DA-E31F-8456-61173DD952E7}"/>
                </a:ext>
              </a:extLst>
            </p:cNvPr>
            <p:cNvSpPr txBox="1"/>
            <p:nvPr/>
          </p:nvSpPr>
          <p:spPr>
            <a:xfrm>
              <a:off x="19148224" y="745157"/>
              <a:ext cx="32765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200" dirty="0">
                  <a:solidFill>
                    <a:srgbClr val="FFFF00"/>
                  </a:solidFill>
                </a:rPr>
                <a:t>R-square</a:t>
              </a:r>
              <a:endParaRPr kumimoji="1" lang="zh-CN" altLang="en-US" sz="3200" dirty="0">
                <a:solidFill>
                  <a:srgbClr val="FFFF00"/>
                </a:solidFill>
              </a:endParaRPr>
            </a:p>
          </p:txBody>
        </p:sp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12526E33-B427-8E44-ED2B-2C885AEEC23C}"/>
                </a:ext>
              </a:extLst>
            </p:cNvPr>
            <p:cNvSpPr/>
            <p:nvPr/>
          </p:nvSpPr>
          <p:spPr>
            <a:xfrm>
              <a:off x="16535400" y="655544"/>
              <a:ext cx="1902287" cy="1585834"/>
            </a:xfrm>
            <a:prstGeom prst="roundRect">
              <a:avLst/>
            </a:prstGeom>
            <a:noFill/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E1C74A5D-80A6-BD9C-785C-010BC8ED6BA8}"/>
                </a:ext>
              </a:extLst>
            </p:cNvPr>
            <p:cNvSpPr/>
            <p:nvPr/>
          </p:nvSpPr>
          <p:spPr>
            <a:xfrm>
              <a:off x="19056961" y="674109"/>
              <a:ext cx="1935180" cy="1585834"/>
            </a:xfrm>
            <a:prstGeom prst="roundRect">
              <a:avLst/>
            </a:prstGeom>
            <a:noFill/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DC5BBD6-2D11-DC63-463F-616B9BE9C952}"/>
                </a:ext>
              </a:extLst>
            </p:cNvPr>
            <p:cNvSpPr txBox="1"/>
            <p:nvPr/>
          </p:nvSpPr>
          <p:spPr>
            <a:xfrm>
              <a:off x="16012633" y="-34024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  <p:pic>
          <p:nvPicPr>
            <p:cNvPr id="9" name="Picture 4" descr="箭头红色下降向下符号视频特效素材-千库网">
              <a:extLst>
                <a:ext uri="{FF2B5EF4-FFF2-40B4-BE49-F238E27FC236}">
                  <a16:creationId xmlns:a16="http://schemas.microsoft.com/office/drawing/2014/main" id="{030D5059-C5B9-62BF-A5A0-78C8D8C234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9503529" y="1376411"/>
              <a:ext cx="981740" cy="805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30069" y="-7682312"/>
            <a:ext cx="23348138" cy="17422024"/>
          </a:xfrm>
          <a:custGeom>
            <a:avLst/>
            <a:gdLst/>
            <a:ahLst/>
            <a:cxnLst/>
            <a:rect l="l" t="t" r="r" b="b"/>
            <a:pathLst>
              <a:path w="23348138" h="17422024">
                <a:moveTo>
                  <a:pt x="0" y="0"/>
                </a:moveTo>
                <a:lnTo>
                  <a:pt x="23348138" y="0"/>
                </a:lnTo>
                <a:lnTo>
                  <a:pt x="23348138" y="17422024"/>
                </a:lnTo>
                <a:lnTo>
                  <a:pt x="0" y="1742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23BF9-15CB-E8D8-C01C-4C16A30E7D10}"/>
              </a:ext>
            </a:extLst>
          </p:cNvPr>
          <p:cNvSpPr txBox="1"/>
          <p:nvPr/>
        </p:nvSpPr>
        <p:spPr>
          <a:xfrm>
            <a:off x="6400800" y="3832435"/>
            <a:ext cx="13416420" cy="131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7777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Discussion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EF475F5-8F1F-F820-1B29-C67EF0F8CECF}"/>
              </a:ext>
            </a:extLst>
          </p:cNvPr>
          <p:cNvSpPr txBox="1"/>
          <p:nvPr/>
        </p:nvSpPr>
        <p:spPr>
          <a:xfrm>
            <a:off x="838200" y="952500"/>
            <a:ext cx="13563600" cy="2831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There is a </a:t>
            </a:r>
            <a:r>
              <a:rPr lang="en-US" sz="3600" b="1" dirty="0">
                <a:solidFill>
                  <a:srgbClr val="FF00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positive</a:t>
            </a:r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relationship between body weight and insect gut microbial diversity, but why…</a:t>
            </a:r>
          </a:p>
          <a:p>
            <a:endParaRPr lang="en-US" sz="36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  <a:p>
            <a:pPr>
              <a:lnSpc>
                <a:spcPts val="10888"/>
              </a:lnSpc>
            </a:pPr>
            <a:endParaRPr lang="en-US" sz="36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523932-37F5-4783-C3DF-5A809CF2FF9E}"/>
              </a:ext>
            </a:extLst>
          </p:cNvPr>
          <p:cNvSpPr txBox="1"/>
          <p:nvPr/>
        </p:nvSpPr>
        <p:spPr>
          <a:xfrm>
            <a:off x="851647" y="2491608"/>
            <a:ext cx="13563600" cy="258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Might directly boost gut microbial diversity through different physiological mechanisms:</a:t>
            </a:r>
          </a:p>
          <a:p>
            <a:endParaRPr lang="en-US" sz="36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  <a:p>
            <a:pPr>
              <a:lnSpc>
                <a:spcPts val="10888"/>
              </a:lnSpc>
            </a:pPr>
            <a:endParaRPr lang="en-US" sz="36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237DCE-16B6-1262-F343-7AF63885B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5177119"/>
            <a:ext cx="5459707" cy="4537783"/>
          </a:xfrm>
          <a:prstGeom prst="rect">
            <a:avLst/>
          </a:prstGeom>
        </p:spPr>
      </p:pic>
      <p:pic>
        <p:nvPicPr>
          <p:cNvPr id="7172" name="Picture 4" descr="European Grapevine Moth | CASAS Global">
            <a:extLst>
              <a:ext uri="{FF2B5EF4-FFF2-40B4-BE49-F238E27FC236}">
                <a16:creationId xmlns:a16="http://schemas.microsoft.com/office/drawing/2014/main" id="{A70AB777-EE2B-51D7-ACBB-B945B5D3B0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36" t="16518"/>
          <a:stretch/>
        </p:blipFill>
        <p:spPr bwMode="auto">
          <a:xfrm>
            <a:off x="9879307" y="5177118"/>
            <a:ext cx="5162550" cy="453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A60BF8B1-9C72-39CF-FAEF-01A7CE4226FA}"/>
              </a:ext>
            </a:extLst>
          </p:cNvPr>
          <p:cNvSpPr txBox="1"/>
          <p:nvPr/>
        </p:nvSpPr>
        <p:spPr>
          <a:xfrm>
            <a:off x="838200" y="3699790"/>
            <a:ext cx="135636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Changes in insect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niche</a:t>
            </a:r>
            <a:r>
              <a:rPr lang="en-US" sz="32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and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habitat</a:t>
            </a:r>
          </a:p>
          <a:p>
            <a:endParaRPr lang="en-US" sz="32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3D133ED-1C12-DC3E-8DA2-BB8CAD4FCD57}"/>
              </a:ext>
            </a:extLst>
          </p:cNvPr>
          <p:cNvSpPr txBox="1"/>
          <p:nvPr/>
        </p:nvSpPr>
        <p:spPr>
          <a:xfrm>
            <a:off x="824753" y="4264686"/>
            <a:ext cx="135636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Dietary</a:t>
            </a:r>
            <a:r>
              <a:rPr lang="en-US" sz="32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habits and food resource</a:t>
            </a:r>
          </a:p>
          <a:p>
            <a:endParaRPr lang="en-US" sz="32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pic>
        <p:nvPicPr>
          <p:cNvPr id="7182" name="Picture 14" descr="小強不死只是變Q！反差萌十足的蟑螂LINE貼圖">
            <a:extLst>
              <a:ext uri="{FF2B5EF4-FFF2-40B4-BE49-F238E27FC236}">
                <a16:creationId xmlns:a16="http://schemas.microsoft.com/office/drawing/2014/main" id="{5EF1036B-08D1-AEFD-4361-B0D5342E4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0730" y="6084801"/>
            <a:ext cx="3497901" cy="378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74322A14-C43C-A95F-347E-BCC31A83AA01}"/>
              </a:ext>
            </a:extLst>
          </p:cNvPr>
          <p:cNvSpPr txBox="1"/>
          <p:nvPr/>
        </p:nvSpPr>
        <p:spPr>
          <a:xfrm>
            <a:off x="797859" y="4831159"/>
            <a:ext cx="135636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Predatory</a:t>
            </a:r>
            <a:r>
              <a:rPr lang="en-US" sz="32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behavior</a:t>
            </a:r>
          </a:p>
          <a:p>
            <a:endParaRPr lang="en-US" sz="32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  <a:p>
            <a:endParaRPr lang="en-US" sz="32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CDC7B22-2D0B-B624-C357-07F81601AC9B}"/>
              </a:ext>
            </a:extLst>
          </p:cNvPr>
          <p:cNvGrpSpPr/>
          <p:nvPr/>
        </p:nvGrpSpPr>
        <p:grpSpPr>
          <a:xfrm>
            <a:off x="1310069" y="6318062"/>
            <a:ext cx="14097001" cy="2465545"/>
            <a:chOff x="1310069" y="6318062"/>
            <a:chExt cx="14097001" cy="2465545"/>
          </a:xfrm>
        </p:grpSpPr>
        <p:pic>
          <p:nvPicPr>
            <p:cNvPr id="7174" name="Picture 6" descr="19 Forage Looper Moth Facts - Facts.net">
              <a:extLst>
                <a:ext uri="{FF2B5EF4-FFF2-40B4-BE49-F238E27FC236}">
                  <a16:creationId xmlns:a16="http://schemas.microsoft.com/office/drawing/2014/main" id="{2A88DC51-3669-DE3E-0C35-9C4F1A3DB1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0069" y="6319807"/>
              <a:ext cx="3289300" cy="2463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579A96B-1830-2F52-5C5C-D25C56EE561F}"/>
                </a:ext>
              </a:extLst>
            </p:cNvPr>
            <p:cNvSpPr txBox="1"/>
            <p:nvPr/>
          </p:nvSpPr>
          <p:spPr>
            <a:xfrm>
              <a:off x="1310069" y="6318062"/>
              <a:ext cx="140970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800" dirty="0">
                  <a:solidFill>
                    <a:schemeClr val="bg1"/>
                  </a:solidFill>
                  <a:effectLst/>
                  <a:latin typeface="CharterBT-Roman"/>
                </a:rPr>
                <a:t>Seifert et al.’s study</a:t>
              </a:r>
            </a:p>
            <a:p>
              <a:r>
                <a:rPr lang="en" altLang="zh-CN" sz="1800" dirty="0">
                  <a:solidFill>
                    <a:schemeClr val="bg1"/>
                  </a:solidFill>
                  <a:effectLst/>
                  <a:latin typeface="CharterBT-Roman"/>
                </a:rPr>
                <a:t>on European looper moths (2022)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0F7F5D2-76F6-DC46-CF49-717E6E786CAF}"/>
              </a:ext>
            </a:extLst>
          </p:cNvPr>
          <p:cNvGrpSpPr/>
          <p:nvPr/>
        </p:nvGrpSpPr>
        <p:grpSpPr>
          <a:xfrm>
            <a:off x="3854376" y="5143500"/>
            <a:ext cx="14097001" cy="4730694"/>
            <a:chOff x="3854376" y="5143500"/>
            <a:chExt cx="14097001" cy="4730694"/>
          </a:xfrm>
        </p:grpSpPr>
        <p:pic>
          <p:nvPicPr>
            <p:cNvPr id="7176" name="Picture 8" descr="Stag beetle guide: how to identify, and how to help them in your garden -  Discover Wildlife">
              <a:extLst>
                <a:ext uri="{FF2B5EF4-FFF2-40B4-BE49-F238E27FC236}">
                  <a16:creationId xmlns:a16="http://schemas.microsoft.com/office/drawing/2014/main" id="{E4C8473C-5D43-D832-14E3-A1D99366E7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5180" y="5143500"/>
              <a:ext cx="6305550" cy="4730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FE58629-643F-C51D-5589-2FAB9CE3A551}"/>
                </a:ext>
              </a:extLst>
            </p:cNvPr>
            <p:cNvSpPr txBox="1"/>
            <p:nvPr/>
          </p:nvSpPr>
          <p:spPr>
            <a:xfrm>
              <a:off x="3854376" y="9134691"/>
              <a:ext cx="140970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altLang="zh-CN" sz="1800" dirty="0">
                  <a:solidFill>
                    <a:schemeClr val="bg1"/>
                  </a:solidFill>
                  <a:effectLst/>
                  <a:latin typeface="CharterBT-Roman"/>
                </a:rPr>
                <a:t>Jing et al.’s study </a:t>
              </a:r>
              <a:endParaRPr lang="en" altLang="zh-CN" dirty="0">
                <a:solidFill>
                  <a:schemeClr val="bg1"/>
                </a:solidFill>
              </a:endParaRPr>
            </a:p>
            <a:p>
              <a:r>
                <a:rPr lang="en" altLang="zh-CN" sz="1800" dirty="0">
                  <a:solidFill>
                    <a:schemeClr val="bg1"/>
                  </a:solidFill>
                  <a:effectLst/>
                  <a:latin typeface="CharterBT-Roman"/>
                </a:rPr>
                <a:t>on Large beetles (2020)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4743426-AF27-E1CC-9567-384E19862DD0}"/>
              </a:ext>
            </a:extLst>
          </p:cNvPr>
          <p:cNvGrpSpPr/>
          <p:nvPr/>
        </p:nvGrpSpPr>
        <p:grpSpPr>
          <a:xfrm>
            <a:off x="9664465" y="3960175"/>
            <a:ext cx="14311843" cy="5820847"/>
            <a:chOff x="9664465" y="3960175"/>
            <a:chExt cx="14311843" cy="5820847"/>
          </a:xfrm>
        </p:grpSpPr>
        <p:pic>
          <p:nvPicPr>
            <p:cNvPr id="7184" name="Picture 16">
              <a:extLst>
                <a:ext uri="{FF2B5EF4-FFF2-40B4-BE49-F238E27FC236}">
                  <a16:creationId xmlns:a16="http://schemas.microsoft.com/office/drawing/2014/main" id="{1E6B04AE-D5BE-2263-55E0-0B5E6BC4CE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664465" y="3960175"/>
              <a:ext cx="7787088" cy="5820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4257AC2-0F51-32D2-B64C-C5133D2C1E53}"/>
                </a:ext>
              </a:extLst>
            </p:cNvPr>
            <p:cNvSpPr txBox="1"/>
            <p:nvPr/>
          </p:nvSpPr>
          <p:spPr>
            <a:xfrm>
              <a:off x="9879307" y="8937758"/>
              <a:ext cx="140970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" altLang="zh-CN" sz="1800" dirty="0" err="1">
                  <a:solidFill>
                    <a:schemeClr val="bg1"/>
                  </a:solidFill>
                  <a:effectLst/>
                  <a:latin typeface="CharterBT-Roman"/>
                </a:rPr>
                <a:t>Magura</a:t>
              </a:r>
              <a:r>
                <a:rPr lang="en" altLang="zh-CN" sz="1800" dirty="0">
                  <a:solidFill>
                    <a:schemeClr val="bg1"/>
                  </a:solidFill>
                  <a:effectLst/>
                  <a:latin typeface="CharterBT-Roman"/>
                </a:rPr>
                <a:t> et al.’s study </a:t>
              </a:r>
              <a:endParaRPr lang="en" altLang="zh-CN" dirty="0">
                <a:solidFill>
                  <a:schemeClr val="bg1"/>
                </a:solidFill>
              </a:endParaRPr>
            </a:p>
            <a:p>
              <a:r>
                <a:rPr lang="en" altLang="zh-CN" sz="1800" dirty="0">
                  <a:solidFill>
                    <a:schemeClr val="bg1"/>
                  </a:solidFill>
                  <a:effectLst/>
                  <a:latin typeface="CharterBT-Roman"/>
                </a:rPr>
                <a:t>on Ground beetles (2024)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824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88A43FFD-777D-F5E4-F061-FDA6C9DB8C9D}"/>
              </a:ext>
            </a:extLst>
          </p:cNvPr>
          <p:cNvSpPr txBox="1"/>
          <p:nvPr/>
        </p:nvSpPr>
        <p:spPr>
          <a:xfrm>
            <a:off x="820271" y="723900"/>
            <a:ext cx="15621000" cy="2831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Life stages </a:t>
            </a:r>
            <a:r>
              <a:rPr lang="en-US" sz="3600" b="1" dirty="0">
                <a:solidFill>
                  <a:srgbClr val="FF00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directly</a:t>
            </a:r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influence gut microbial diversity by affecting insect body size and other physiological mechanisms, but how…</a:t>
            </a:r>
          </a:p>
          <a:p>
            <a:pPr>
              <a:lnSpc>
                <a:spcPts val="10888"/>
              </a:lnSpc>
            </a:pPr>
            <a:endParaRPr lang="en-US" sz="36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0B270-1B51-2FC4-070F-D07C6D429C70}"/>
              </a:ext>
            </a:extLst>
          </p:cNvPr>
          <p:cNvSpPr txBox="1"/>
          <p:nvPr/>
        </p:nvSpPr>
        <p:spPr>
          <a:xfrm>
            <a:off x="820271" y="2857500"/>
            <a:ext cx="141732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Changes in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ecological niches</a:t>
            </a:r>
            <a:r>
              <a:rPr lang="en-US" sz="32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throughout the insect life cycle</a:t>
            </a:r>
          </a:p>
          <a:p>
            <a:endParaRPr lang="en-US" sz="32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BB1FF6E-F77D-40D9-719E-D2CFE39C6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49952" y="4025498"/>
            <a:ext cx="6250271" cy="4150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A6963B6C-ED7D-CA3F-7CBF-493008703910}"/>
              </a:ext>
            </a:extLst>
          </p:cNvPr>
          <p:cNvSpPr txBox="1"/>
          <p:nvPr/>
        </p:nvSpPr>
        <p:spPr>
          <a:xfrm>
            <a:off x="820271" y="3761845"/>
            <a:ext cx="135636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Changes in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gut structure</a:t>
            </a:r>
          </a:p>
          <a:p>
            <a:endParaRPr lang="en-US" sz="32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  <a:p>
            <a:endParaRPr lang="en-US" sz="32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pic>
        <p:nvPicPr>
          <p:cNvPr id="8196" name="Picture 4" descr="Small Things Considered: Fine Reading: The gut microbiota of insects –  diversity in structure and function">
            <a:extLst>
              <a:ext uri="{FF2B5EF4-FFF2-40B4-BE49-F238E27FC236}">
                <a16:creationId xmlns:a16="http://schemas.microsoft.com/office/drawing/2014/main" id="{81660BAA-6E89-C2DE-CA71-A1AD51752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624" y="3447167"/>
            <a:ext cx="5791200" cy="6746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INSECT STRUCTURE LARVA ADULT mouthparts gut salivary gland - ppt download">
            <a:extLst>
              <a:ext uri="{FF2B5EF4-FFF2-40B4-BE49-F238E27FC236}">
                <a16:creationId xmlns:a16="http://schemas.microsoft.com/office/drawing/2014/main" id="{2D5E4F43-701C-6F81-A3E5-B9914F85A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530" y="4703995"/>
            <a:ext cx="6171081" cy="462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1D7DB628-923C-70E6-64CB-1DE478AFA3F5}"/>
              </a:ext>
            </a:extLst>
          </p:cNvPr>
          <p:cNvSpPr txBox="1"/>
          <p:nvPr/>
        </p:nvSpPr>
        <p:spPr>
          <a:xfrm>
            <a:off x="822043" y="4715298"/>
            <a:ext cx="135636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Changes in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Bodyweight</a:t>
            </a:r>
          </a:p>
          <a:p>
            <a:endParaRPr lang="en-US" sz="32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  <a:p>
            <a:endParaRPr lang="en-US" sz="32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2EE069C-161C-5D7F-B2EE-F9B466F1164A}"/>
              </a:ext>
            </a:extLst>
          </p:cNvPr>
          <p:cNvSpPr/>
          <p:nvPr/>
        </p:nvSpPr>
        <p:spPr>
          <a:xfrm>
            <a:off x="9583329" y="6172630"/>
            <a:ext cx="4419600" cy="2548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/>
              <a:t>Larva &gt; Adult:</a:t>
            </a:r>
            <a:r>
              <a:rPr kumimoji="1" lang="en" altLang="zh-CN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</a:p>
          <a:p>
            <a:pPr algn="ctr"/>
            <a:r>
              <a:rPr kumimoji="1" lang="en" altLang="zh-CN" sz="2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Lepidoptera</a:t>
            </a:r>
          </a:p>
          <a:p>
            <a:pPr algn="ctr"/>
            <a:r>
              <a:rPr kumimoji="1" lang="en" altLang="zh-CN" sz="2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Coleoptera</a:t>
            </a:r>
            <a:r>
              <a:rPr kumimoji="1" lang="zh-CN" altLang="en-US" sz="20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（</a:t>
            </a:r>
            <a:r>
              <a:rPr lang="en" altLang="zh-CN" sz="2000" b="0" i="1" u="none" strike="noStrike" dirty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-webkit-standard"/>
              </a:rPr>
              <a:t>Cerambycidae</a:t>
            </a:r>
            <a:r>
              <a:rPr kumimoji="1" lang="zh-CN" altLang="en-US" sz="2000" b="0" i="1" u="none" strike="noStrike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-webkit-standard"/>
              </a:rPr>
              <a:t>）</a:t>
            </a:r>
            <a:r>
              <a:rPr kumimoji="1" lang="en" altLang="zh-CN" sz="20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</a:p>
          <a:p>
            <a:pPr algn="ctr"/>
            <a:r>
              <a:rPr kumimoji="1" lang="en-US" altLang="zh-CN" sz="2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Diptera</a:t>
            </a:r>
          </a:p>
          <a:p>
            <a:pPr algn="ctr"/>
            <a:r>
              <a:rPr lang="en" altLang="zh-CN" sz="2800" b="0" i="0" u="none" strike="noStrike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-webkit-standard"/>
              </a:rPr>
              <a:t>Odonata</a:t>
            </a:r>
            <a:endParaRPr kumimoji="1" lang="en-US" altLang="zh-CN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8745FDF-EEC2-2C90-FDE6-52731ADE85D3}"/>
              </a:ext>
            </a:extLst>
          </p:cNvPr>
          <p:cNvSpPr/>
          <p:nvPr/>
        </p:nvSpPr>
        <p:spPr>
          <a:xfrm>
            <a:off x="2999947" y="6203929"/>
            <a:ext cx="4149913" cy="2603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/>
              <a:t>Most insects </a:t>
            </a:r>
            <a:r>
              <a:rPr kumimoji="1" lang="en-US" altLang="zh-CN" sz="2800" dirty="0">
                <a:solidFill>
                  <a:srgbClr val="FFFF00"/>
                </a:solidFill>
              </a:rPr>
              <a:t>increase</a:t>
            </a:r>
            <a:r>
              <a:rPr kumimoji="1" lang="en-US" altLang="zh-CN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kumimoji="1" lang="en-US" altLang="zh-CN" sz="2800" dirty="0"/>
              <a:t>in weight as they age, with the growth eventually stabilizing.</a:t>
            </a: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BB8BA36E-FB0A-CF6B-AAB6-D4EFC6B0335A}"/>
              </a:ext>
            </a:extLst>
          </p:cNvPr>
          <p:cNvCxnSpPr/>
          <p:nvPr/>
        </p:nvCxnSpPr>
        <p:spPr>
          <a:xfrm>
            <a:off x="7149860" y="7810500"/>
            <a:ext cx="2443910" cy="0"/>
          </a:xfrm>
          <a:prstGeom prst="straightConnector1">
            <a:avLst/>
          </a:prstGeom>
          <a:ln w="889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CA6FA15-8BD7-B1EB-B96C-A56092624CBF}"/>
              </a:ext>
            </a:extLst>
          </p:cNvPr>
          <p:cNvSpPr txBox="1"/>
          <p:nvPr/>
        </p:nvSpPr>
        <p:spPr>
          <a:xfrm>
            <a:off x="7941329" y="7118085"/>
            <a:ext cx="1541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But…</a:t>
            </a:r>
            <a:endParaRPr kumimoji="1" lang="zh-CN" altLang="en-US" sz="28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859DB1-AA6D-FB2E-84F6-3EF94906C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509813" y="4024963"/>
            <a:ext cx="5758582" cy="431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0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5" grpId="0"/>
      <p:bldP spid="3" grpId="0"/>
      <p:bldP spid="7" grpId="0" animBg="1"/>
      <p:bldP spid="8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卡通人物&#10;&#10;低可信度描述已自动生成">
            <a:extLst>
              <a:ext uri="{FF2B5EF4-FFF2-40B4-BE49-F238E27FC236}">
                <a16:creationId xmlns:a16="http://schemas.microsoft.com/office/drawing/2014/main" id="{E2994300-3C45-D9F5-E13D-9FA0767F46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55472">
            <a:off x="-784495" y="97190"/>
            <a:ext cx="6882999" cy="5134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523BF9-15CB-E8D8-C01C-4C16A30E7D10}"/>
              </a:ext>
            </a:extLst>
          </p:cNvPr>
          <p:cNvSpPr txBox="1"/>
          <p:nvPr/>
        </p:nvSpPr>
        <p:spPr>
          <a:xfrm>
            <a:off x="4495800" y="647700"/>
            <a:ext cx="13416420" cy="125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60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Limitation and future directions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153995-D63D-11C6-5E74-ECE444E05A69}"/>
              </a:ext>
            </a:extLst>
          </p:cNvPr>
          <p:cNvSpPr txBox="1"/>
          <p:nvPr/>
        </p:nvSpPr>
        <p:spPr>
          <a:xfrm>
            <a:off x="4267200" y="2422072"/>
            <a:ext cx="1158240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3600" dirty="0">
                <a:solidFill>
                  <a:srgbClr val="FFFF00"/>
                </a:solidFill>
              </a:rPr>
              <a:t>1. The data requires further cleaning to enhance the interpretability of the results</a:t>
            </a:r>
            <a:r>
              <a:rPr kumimoji="1" lang="zh-CN" altLang="en-US" sz="3600" dirty="0">
                <a:solidFill>
                  <a:srgbClr val="FFFF00"/>
                </a:solidFill>
              </a:rPr>
              <a:t> </a:t>
            </a:r>
            <a:r>
              <a:rPr kumimoji="1" lang="en-US" altLang="zh-CN" sz="3600" dirty="0">
                <a:solidFill>
                  <a:srgbClr val="FFFF00"/>
                </a:solidFill>
              </a:rPr>
              <a:t>  </a:t>
            </a:r>
            <a:r>
              <a:rPr kumimoji="1"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(Bias in </a:t>
            </a:r>
            <a:r>
              <a:rPr kumimoji="1" lang="en-US" altLang="zh-CN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Lifestage</a:t>
            </a:r>
            <a:r>
              <a:rPr kumimoji="1"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Data)</a:t>
            </a:r>
            <a:endParaRPr kumimoji="1" lang="en" altLang="zh-C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kumimoji="1" lang="en" altLang="zh-CN" sz="3600" dirty="0">
              <a:solidFill>
                <a:srgbClr val="FFFF00"/>
              </a:solidFill>
            </a:endParaRPr>
          </a:p>
          <a:p>
            <a:r>
              <a:rPr kumimoji="1" lang="en" altLang="zh-CN" sz="3600" dirty="0">
                <a:solidFill>
                  <a:srgbClr val="FFFF00"/>
                </a:solidFill>
              </a:rPr>
              <a:t>2. It’s hard to distinguish</a:t>
            </a:r>
            <a:r>
              <a:rPr kumimoji="1" lang="zh-CN" altLang="en-US" sz="3600" dirty="0">
                <a:solidFill>
                  <a:srgbClr val="FFFF00"/>
                </a:solidFill>
              </a:rPr>
              <a:t> </a:t>
            </a:r>
            <a:r>
              <a:rPr kumimoji="1" lang="en" altLang="zh-CN" sz="3600" dirty="0">
                <a:solidFill>
                  <a:srgbClr val="FFFF00"/>
                </a:solidFill>
              </a:rPr>
              <a:t>if life stage affects gut microbiota through body weight or </a:t>
            </a:r>
            <a:r>
              <a:rPr kumimoji="1" lang="en" altLang="zh-CN" sz="3600" dirty="0">
                <a:solidFill>
                  <a:schemeClr val="accent6"/>
                </a:solidFill>
              </a:rPr>
              <a:t>directly</a:t>
            </a:r>
            <a:r>
              <a:rPr kumimoji="1" lang="en" altLang="zh-CN" sz="3600" dirty="0">
                <a:solidFill>
                  <a:srgbClr val="FFFF00"/>
                </a:solidFill>
              </a:rPr>
              <a:t>.</a:t>
            </a:r>
          </a:p>
          <a:p>
            <a:endParaRPr kumimoji="1" lang="en" altLang="zh-CN" sz="3600" dirty="0">
              <a:solidFill>
                <a:srgbClr val="FFFF00"/>
              </a:solidFill>
            </a:endParaRPr>
          </a:p>
          <a:p>
            <a:endParaRPr kumimoji="1" lang="en" altLang="zh-CN" sz="3600" dirty="0">
              <a:solidFill>
                <a:srgbClr val="FFFF00"/>
              </a:solidFill>
            </a:endParaRPr>
          </a:p>
          <a:p>
            <a:endParaRPr kumimoji="1" lang="en" altLang="zh-CN" sz="3600" dirty="0">
              <a:solidFill>
                <a:srgbClr val="FFFF00"/>
              </a:solidFill>
            </a:endParaRPr>
          </a:p>
          <a:p>
            <a:r>
              <a:rPr kumimoji="1" lang="en" altLang="zh-CN" sz="3600" dirty="0">
                <a:solidFill>
                  <a:srgbClr val="FFFF00"/>
                </a:solidFill>
              </a:rPr>
              <a:t>3. The physical differences among insects, other aspects such as </a:t>
            </a:r>
            <a:r>
              <a:rPr kumimoji="1" lang="en" altLang="zh-CN" sz="3600" dirty="0">
                <a:solidFill>
                  <a:schemeClr val="accent6">
                    <a:lumMod val="75000"/>
                  </a:schemeClr>
                </a:solidFill>
              </a:rPr>
              <a:t>lifestyle</a:t>
            </a:r>
            <a:r>
              <a:rPr kumimoji="1" lang="en-US" altLang="zh-CN" sz="3600" dirty="0">
                <a:solidFill>
                  <a:schemeClr val="accent6">
                    <a:lumMod val="75000"/>
                  </a:schemeClr>
                </a:solidFill>
              </a:rPr>
              <a:t>/food resource/gender</a:t>
            </a:r>
            <a:r>
              <a:rPr kumimoji="1" lang="en" altLang="zh-CN" sz="3600" dirty="0">
                <a:solidFill>
                  <a:srgbClr val="FFFF00"/>
                </a:solidFill>
              </a:rPr>
              <a:t> should also be considered…</a:t>
            </a:r>
          </a:p>
          <a:p>
            <a:r>
              <a:rPr kumimoji="1" lang="en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Parasitic?</a:t>
            </a:r>
          </a:p>
          <a:p>
            <a:r>
              <a:rPr kumimoji="1" lang="en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Social?</a:t>
            </a:r>
          </a:p>
          <a:p>
            <a:r>
              <a:rPr kumimoji="1" lang="en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Herbivorous ? Omnivorous ?</a:t>
            </a:r>
          </a:p>
          <a:p>
            <a:r>
              <a:rPr kumimoji="1" lang="en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Male or female?</a:t>
            </a:r>
            <a:endParaRPr kumimoji="1" lang="zh-CN" alt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AC29C8D-F519-BF86-8E6F-14B0D743182E}"/>
              </a:ext>
            </a:extLst>
          </p:cNvPr>
          <p:cNvGrpSpPr/>
          <p:nvPr/>
        </p:nvGrpSpPr>
        <p:grpSpPr>
          <a:xfrm>
            <a:off x="14296869" y="5017916"/>
            <a:ext cx="3991131" cy="1553285"/>
            <a:chOff x="11782269" y="5032979"/>
            <a:chExt cx="3991131" cy="155328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FC5C073D-6A25-655A-5A62-7F42C6218784}"/>
                </a:ext>
              </a:extLst>
            </p:cNvPr>
            <p:cNvSpPr/>
            <p:nvPr/>
          </p:nvSpPr>
          <p:spPr>
            <a:xfrm>
              <a:off x="11811000" y="5032979"/>
              <a:ext cx="1524000" cy="5334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Lifestage</a:t>
              </a:r>
              <a:endParaRPr kumimoji="1" lang="zh-CN" altLang="en-US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04A482B-289E-168E-1943-D567E43B1F95}"/>
                </a:ext>
              </a:extLst>
            </p:cNvPr>
            <p:cNvSpPr/>
            <p:nvPr/>
          </p:nvSpPr>
          <p:spPr>
            <a:xfrm>
              <a:off x="14325600" y="5566379"/>
              <a:ext cx="1447800" cy="5334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Diversity</a:t>
              </a:r>
              <a:endParaRPr kumimoji="1" lang="zh-CN" altLang="en-US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19162B8-3123-A748-52B7-F5FC5497F096}"/>
                </a:ext>
              </a:extLst>
            </p:cNvPr>
            <p:cNvSpPr/>
            <p:nvPr/>
          </p:nvSpPr>
          <p:spPr>
            <a:xfrm>
              <a:off x="11782269" y="6052864"/>
              <a:ext cx="1524000" cy="533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Body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F956B24B-E628-D901-8E5D-B1F39370386E}"/>
                </a:ext>
              </a:extLst>
            </p:cNvPr>
            <p:cNvCxnSpPr/>
            <p:nvPr/>
          </p:nvCxnSpPr>
          <p:spPr>
            <a:xfrm>
              <a:off x="13335000" y="5299679"/>
              <a:ext cx="990600" cy="453421"/>
            </a:xfrm>
            <a:prstGeom prst="straightConnector1">
              <a:avLst/>
            </a:prstGeom>
            <a:ln w="635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77D81DDA-5C61-34CD-62EF-E539BF25CAD2}"/>
                </a:ext>
              </a:extLst>
            </p:cNvPr>
            <p:cNvCxnSpPr>
              <a:stCxn id="7" idx="4"/>
            </p:cNvCxnSpPr>
            <p:nvPr/>
          </p:nvCxnSpPr>
          <p:spPr>
            <a:xfrm>
              <a:off x="12573000" y="5566379"/>
              <a:ext cx="0" cy="486485"/>
            </a:xfrm>
            <a:prstGeom prst="straightConnector1">
              <a:avLst/>
            </a:prstGeom>
            <a:ln w="6350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79271BD9-2B84-09A9-9BDC-9F8392A0AC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35000" y="6019800"/>
              <a:ext cx="990600" cy="299764"/>
            </a:xfrm>
            <a:prstGeom prst="straightConnector1">
              <a:avLst/>
            </a:prstGeom>
            <a:ln w="6350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6627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132C12E7-4599-779D-E706-E14BF15FEF5F}"/>
              </a:ext>
            </a:extLst>
          </p:cNvPr>
          <p:cNvSpPr txBox="1"/>
          <p:nvPr/>
        </p:nvSpPr>
        <p:spPr>
          <a:xfrm>
            <a:off x="4570695" y="419100"/>
            <a:ext cx="9146610" cy="1251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60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Take home messages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E7CD9F9-E0B3-8B9A-6BFD-6005922C702F}"/>
              </a:ext>
            </a:extLst>
          </p:cNvPr>
          <p:cNvSpPr txBox="1"/>
          <p:nvPr/>
        </p:nvSpPr>
        <p:spPr>
          <a:xfrm>
            <a:off x="1752600" y="2240652"/>
            <a:ext cx="15392400" cy="227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1. There is a </a:t>
            </a:r>
            <a:r>
              <a:rPr lang="en-US" sz="3600" b="1" dirty="0">
                <a:solidFill>
                  <a:srgbClr val="FF00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positive</a:t>
            </a:r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relationship between body size and insect gut microbial diversity.</a:t>
            </a:r>
          </a:p>
          <a:p>
            <a:pPr>
              <a:lnSpc>
                <a:spcPts val="10888"/>
              </a:lnSpc>
            </a:pPr>
            <a:endParaRPr lang="en-US" sz="36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76FF26-65F9-94AD-7018-324AB8DE2431}"/>
              </a:ext>
            </a:extLst>
          </p:cNvPr>
          <p:cNvSpPr txBox="1"/>
          <p:nvPr/>
        </p:nvSpPr>
        <p:spPr>
          <a:xfrm>
            <a:off x="1752600" y="3993316"/>
            <a:ext cx="15392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2. The impact of life stage on the diversity of gut microbiota in insects is </a:t>
            </a:r>
            <a:r>
              <a:rPr lang="en-US" sz="3600" b="1" dirty="0">
                <a:solidFill>
                  <a:srgbClr val="FF00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significant</a:t>
            </a:r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.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E85C159-6CE5-A351-D24E-4A00EEC389A0}"/>
              </a:ext>
            </a:extLst>
          </p:cNvPr>
          <p:cNvSpPr txBox="1"/>
          <p:nvPr/>
        </p:nvSpPr>
        <p:spPr>
          <a:xfrm>
            <a:off x="1752600" y="5656597"/>
            <a:ext cx="153924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3</a:t>
            </a:r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. Existing research lacks 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large-scale</a:t>
            </a:r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projects that 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directly</a:t>
            </a:r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compare insect body size and gut microbiome diversity across different insect orders</a:t>
            </a:r>
            <a:r>
              <a:rPr lang="zh-CN" alt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-US" altLang="zh-CN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and </a:t>
            </a:r>
            <a:r>
              <a:rPr lang="en-US" altLang="zh-CN" sz="3600" b="1" dirty="0" err="1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lifestage</a:t>
            </a:r>
            <a:r>
              <a:rPr lang="en-US" sz="36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, this study helps to fill this gap.</a:t>
            </a:r>
          </a:p>
          <a:p>
            <a:endParaRPr lang="en-US" sz="3600" b="1" dirty="0">
              <a:solidFill>
                <a:srgbClr val="FFFF00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</p:spTree>
    <p:extLst>
      <p:ext uri="{BB962C8B-B14F-4D97-AF65-F5344CB8AC3E}">
        <p14:creationId xmlns:p14="http://schemas.microsoft.com/office/powerpoint/2010/main" val="220416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3BE89B5-5545-21E7-C70D-9C644369A2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3000"/>
          </a:blip>
          <a:stretch>
            <a:fillRect/>
          </a:stretch>
        </p:blipFill>
        <p:spPr>
          <a:xfrm rot="19450501">
            <a:off x="-177981" y="-2325750"/>
            <a:ext cx="19875388" cy="13627431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3F55E5A3-1B3D-C576-E9AD-E20E352ED859}"/>
              </a:ext>
            </a:extLst>
          </p:cNvPr>
          <p:cNvSpPr txBox="1"/>
          <p:nvPr/>
        </p:nvSpPr>
        <p:spPr>
          <a:xfrm>
            <a:off x="6826013" y="4152900"/>
            <a:ext cx="5867400" cy="1311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7777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13827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黑暗, 看着, 橙子, 灯光&#10;&#10;描述已自动生成">
            <a:extLst>
              <a:ext uri="{FF2B5EF4-FFF2-40B4-BE49-F238E27FC236}">
                <a16:creationId xmlns:a16="http://schemas.microsoft.com/office/drawing/2014/main" id="{9EF8CBB9-0134-09C4-9910-EE81F4B836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13826">
            <a:off x="-740848" y="-671494"/>
            <a:ext cx="6148982" cy="4587021"/>
          </a:xfrm>
          <a:prstGeom prst="rect">
            <a:avLst/>
          </a:prstGeom>
        </p:spPr>
      </p:pic>
      <p:pic>
        <p:nvPicPr>
          <p:cNvPr id="2056" name="Picture 8" descr="Acquiring Genomic Data from NCBI | D-Lab">
            <a:extLst>
              <a:ext uri="{FF2B5EF4-FFF2-40B4-BE49-F238E27FC236}">
                <a16:creationId xmlns:a16="http://schemas.microsoft.com/office/drawing/2014/main" id="{07106AD1-04DB-6E0E-A13A-27FE5716B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8644" y="83460"/>
            <a:ext cx="2255956" cy="254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48D79B2D-4D99-7B61-C5DF-4CAF85BE2315}"/>
              </a:ext>
            </a:extLst>
          </p:cNvPr>
          <p:cNvSpPr txBox="1"/>
          <p:nvPr/>
        </p:nvSpPr>
        <p:spPr>
          <a:xfrm>
            <a:off x="835397" y="650777"/>
            <a:ext cx="13416420" cy="125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6000" b="1" dirty="0">
                <a:solidFill>
                  <a:srgbClr val="FFFF00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Methods</a:t>
            </a:r>
          </a:p>
        </p:txBody>
      </p:sp>
      <p:pic>
        <p:nvPicPr>
          <p:cNvPr id="2062" name="Picture 14" descr="Overview of QIIME 2 Plugin Workflows — QIIME 2 2024.5.0 documentation">
            <a:extLst>
              <a:ext uri="{FF2B5EF4-FFF2-40B4-BE49-F238E27FC236}">
                <a16:creationId xmlns:a16="http://schemas.microsoft.com/office/drawing/2014/main" id="{FC330ED4-D945-BC96-696F-52A665271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405" y="1901825"/>
            <a:ext cx="12361109" cy="731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q2Galaxy - Galaxy Community Hub">
            <a:extLst>
              <a:ext uri="{FF2B5EF4-FFF2-40B4-BE49-F238E27FC236}">
                <a16:creationId xmlns:a16="http://schemas.microsoft.com/office/drawing/2014/main" id="{D7659285-5E19-BF41-34F8-83CACCA2A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80" y="7593060"/>
            <a:ext cx="3022600" cy="136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>
            <a:extLst>
              <a:ext uri="{FF2B5EF4-FFF2-40B4-BE49-F238E27FC236}">
                <a16:creationId xmlns:a16="http://schemas.microsoft.com/office/drawing/2014/main" id="{3EE8BCED-5F07-5875-789F-C8ADF4AC0B45}"/>
              </a:ext>
            </a:extLst>
          </p:cNvPr>
          <p:cNvSpPr/>
          <p:nvPr/>
        </p:nvSpPr>
        <p:spPr>
          <a:xfrm rot="17890363">
            <a:off x="13964796" y="-1525077"/>
            <a:ext cx="6403035" cy="4917319"/>
          </a:xfrm>
          <a:custGeom>
            <a:avLst/>
            <a:gdLst/>
            <a:ahLst/>
            <a:cxnLst/>
            <a:rect l="l" t="t" r="r" b="b"/>
            <a:pathLst>
              <a:path w="19487757" h="13002167">
                <a:moveTo>
                  <a:pt x="0" y="0"/>
                </a:moveTo>
                <a:lnTo>
                  <a:pt x="19487758" y="0"/>
                </a:lnTo>
                <a:lnTo>
                  <a:pt x="19487758" y="13002168"/>
                </a:lnTo>
                <a:lnTo>
                  <a:pt x="0" y="13002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t="-5919" b="-5919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7312656-0651-E522-9D6E-DA7E74F67857}"/>
              </a:ext>
            </a:extLst>
          </p:cNvPr>
          <p:cNvSpPr/>
          <p:nvPr/>
        </p:nvSpPr>
        <p:spPr>
          <a:xfrm>
            <a:off x="228600" y="2171700"/>
            <a:ext cx="17907000" cy="76962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5ADD0BE-8B9D-9C1C-EB66-107DD27D6916}"/>
              </a:ext>
            </a:extLst>
          </p:cNvPr>
          <p:cNvSpPr txBox="1"/>
          <p:nvPr/>
        </p:nvSpPr>
        <p:spPr>
          <a:xfrm>
            <a:off x="439689" y="448733"/>
            <a:ext cx="16743557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Composition in gut microbiota diversity by different insect order</a:t>
            </a:r>
          </a:p>
          <a:p>
            <a:r>
              <a:rPr lang="en-US" altLang="zh-CN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·</a:t>
            </a:r>
            <a:r>
              <a:rPr lang="zh-CN" altLang="en-US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 </a:t>
            </a:r>
            <a:r>
              <a:rPr lang="en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8113</a:t>
            </a:r>
            <a:r>
              <a:rPr lang="en" altLang="zh-CN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insect samples </a:t>
            </a:r>
            <a:r>
              <a:rPr lang="en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116156</a:t>
            </a:r>
            <a:r>
              <a:rPr lang="en" altLang="zh-CN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OTUs </a:t>
            </a:r>
            <a:endParaRPr lang="en-US" altLang="zh-CN" sz="2800" b="1" dirty="0">
              <a:solidFill>
                <a:schemeClr val="bg1"/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  <a:p>
            <a:r>
              <a:rPr lang="en-US" altLang="zh-CN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·</a:t>
            </a:r>
            <a:r>
              <a:rPr lang="zh-CN" altLang="en-US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 </a:t>
            </a:r>
            <a:r>
              <a:rPr lang="en" altLang="zh-CN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Highlighting the dominance of </a:t>
            </a:r>
            <a:r>
              <a:rPr lang="en" altLang="zh-CN" sz="2800" b="1" dirty="0" err="1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Chloroflexi</a:t>
            </a:r>
            <a:r>
              <a:rPr lang="en" altLang="zh-CN" sz="28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  <a:r>
              <a:rPr lang="en" altLang="zh-CN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and </a:t>
            </a:r>
            <a:r>
              <a:rPr lang="en" altLang="zh-CN" sz="2800" b="1" dirty="0">
                <a:solidFill>
                  <a:schemeClr val="accent6">
                    <a:lumMod val="75000"/>
                  </a:schemeClr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Firmicutes</a:t>
            </a:r>
            <a:endParaRPr lang="en-US" sz="2800" b="1" dirty="0">
              <a:solidFill>
                <a:schemeClr val="accent6">
                  <a:lumMod val="75000"/>
                </a:schemeClr>
              </a:solidFill>
              <a:latin typeface="Arial Black" panose="020B0604020202020204" pitchFamily="34" charset="0"/>
              <a:ea typeface="Bauer Bodoni Bold"/>
              <a:cs typeface="Arial Black" panose="020B0604020202020204" pitchFamily="34" charset="0"/>
              <a:sym typeface="Bauer Bodoni Bold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478FA89-9831-F29E-FA92-D86F8A747D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776" y="3144899"/>
            <a:ext cx="9576522" cy="620054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3DBF81A-24B6-4A7D-3E4F-2D9D080928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59" y="2417498"/>
            <a:ext cx="7360717" cy="693591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CFFB3D3-0905-B095-F765-173165FFD9F8}"/>
              </a:ext>
            </a:extLst>
          </p:cNvPr>
          <p:cNvSpPr txBox="1"/>
          <p:nvPr/>
        </p:nvSpPr>
        <p:spPr>
          <a:xfrm>
            <a:off x="5562600" y="2417498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</a:rPr>
              <a:t>Top 10 microbial phyla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023DA9-992E-E7AE-53F7-DD1A5C575F26}"/>
              </a:ext>
            </a:extLst>
          </p:cNvPr>
          <p:cNvSpPr txBox="1"/>
          <p:nvPr/>
        </p:nvSpPr>
        <p:spPr>
          <a:xfrm>
            <a:off x="13944600" y="2411867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800" dirty="0">
                <a:solidFill>
                  <a:srgbClr val="000000"/>
                </a:solidFill>
                <a:effectLst/>
                <a:latin typeface="CharterBT-Roman"/>
                <a:ea typeface="STSong" panose="02010600040101010101" pitchFamily="2" charset="-122"/>
              </a:rPr>
              <a:t>Top 50 microbial families</a:t>
            </a:r>
            <a:endParaRPr lang="en" altLang="zh-CN" sz="1800" dirty="0">
              <a:solidFill>
                <a:srgbClr val="000000"/>
              </a:solidFill>
              <a:effectLst/>
              <a:latin typeface="STSong" panose="02010600040101010101" pitchFamily="2" charset="-122"/>
              <a:ea typeface="STSong" panose="0201060004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62469" y="7705284"/>
            <a:ext cx="5561370" cy="4089011"/>
          </a:xfrm>
          <a:custGeom>
            <a:avLst/>
            <a:gdLst/>
            <a:ahLst/>
            <a:cxnLst/>
            <a:rect l="l" t="t" r="r" b="b"/>
            <a:pathLst>
              <a:path w="8808544" h="6572801">
                <a:moveTo>
                  <a:pt x="0" y="0"/>
                </a:moveTo>
                <a:lnTo>
                  <a:pt x="8808544" y="0"/>
                </a:lnTo>
                <a:lnTo>
                  <a:pt x="8808544" y="6572800"/>
                </a:lnTo>
                <a:lnTo>
                  <a:pt x="0" y="6572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9E1D8C3-DE0E-33E9-ECFA-67C6D6433F97}"/>
              </a:ext>
            </a:extLst>
          </p:cNvPr>
          <p:cNvSpPr/>
          <p:nvPr/>
        </p:nvSpPr>
        <p:spPr>
          <a:xfrm>
            <a:off x="308671" y="537210"/>
            <a:ext cx="17670658" cy="742569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C2050F-E180-23D3-0806-EF11A58BAC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99" y="1253555"/>
            <a:ext cx="7727742" cy="61873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699AB5E-3509-6B94-16F0-CC8F57712A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598" y="1253555"/>
            <a:ext cx="7727742" cy="6187309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438B1531-81D3-3687-040C-DDEAE95D5A69}"/>
              </a:ext>
            </a:extLst>
          </p:cNvPr>
          <p:cNvSpPr txBox="1"/>
          <p:nvPr/>
        </p:nvSpPr>
        <p:spPr>
          <a:xfrm>
            <a:off x="576318" y="8420100"/>
            <a:ext cx="12686238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The </a:t>
            </a:r>
            <a:r>
              <a:rPr lang="en-US" sz="2800" b="1" dirty="0" err="1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PCoA</a:t>
            </a:r>
            <a:r>
              <a:rPr lang="en-US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revealed differences in microbial community composition among insect orders and </a:t>
            </a:r>
            <a:r>
              <a:rPr lang="en-US" sz="2800" b="1" dirty="0" err="1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lifestage</a:t>
            </a:r>
            <a:r>
              <a:rPr lang="en-US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6CC4BC-7432-635D-77D0-A226C306E6AD}"/>
              </a:ext>
            </a:extLst>
          </p:cNvPr>
          <p:cNvSpPr txBox="1"/>
          <p:nvPr/>
        </p:nvSpPr>
        <p:spPr>
          <a:xfrm>
            <a:off x="14487210" y="8403771"/>
            <a:ext cx="3492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000" dirty="0">
                <a:solidFill>
                  <a:schemeClr val="accent6">
                    <a:lumMod val="75000"/>
                  </a:schemeClr>
                </a:solidFill>
                <a:effectLst/>
                <a:latin typeface="CharterBT-Roman"/>
              </a:rPr>
              <a:t>Bray</a:t>
            </a:r>
            <a:r>
              <a:rPr lang="en" altLang="zh-CN" sz="2000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 </a:t>
            </a:r>
            <a:r>
              <a:rPr lang="en" altLang="zh-CN" sz="2000" dirty="0">
                <a:solidFill>
                  <a:schemeClr val="accent6">
                    <a:lumMod val="75000"/>
                  </a:schemeClr>
                </a:solidFill>
                <a:effectLst/>
                <a:latin typeface="CharterBT-Roman"/>
              </a:rPr>
              <a:t>Curtis distance measure</a:t>
            </a:r>
            <a:endParaRPr kumimoji="1" lang="zh-CN" alt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绿色的昆虫&#10;&#10;描述已自动生成">
            <a:extLst>
              <a:ext uri="{FF2B5EF4-FFF2-40B4-BE49-F238E27FC236}">
                <a16:creationId xmlns:a16="http://schemas.microsoft.com/office/drawing/2014/main" id="{A6B20BD6-6EF4-CCE8-5362-A1A8A7D48D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4171" y="1419986"/>
            <a:ext cx="9667657" cy="7211885"/>
          </a:xfrm>
          <a:prstGeom prst="rect">
            <a:avLst/>
          </a:prstGeom>
        </p:spPr>
      </p:pic>
      <p:sp>
        <p:nvSpPr>
          <p:cNvPr id="3" name="对角圆角矩形 2">
            <a:extLst>
              <a:ext uri="{FF2B5EF4-FFF2-40B4-BE49-F238E27FC236}">
                <a16:creationId xmlns:a16="http://schemas.microsoft.com/office/drawing/2014/main" id="{2D876C17-0B64-4F6E-E3B6-16DBADB6D51E}"/>
              </a:ext>
            </a:extLst>
          </p:cNvPr>
          <p:cNvSpPr/>
          <p:nvPr/>
        </p:nvSpPr>
        <p:spPr>
          <a:xfrm>
            <a:off x="533400" y="571500"/>
            <a:ext cx="14782800" cy="8625710"/>
          </a:xfrm>
          <a:prstGeom prst="round2Diag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70EF4E-84A9-82FC-FFF4-78B9D032D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9600" y="697047"/>
            <a:ext cx="5862230" cy="83746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54B01F-A83A-D82D-2FE8-000E06FA33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1548" y="1089790"/>
            <a:ext cx="6485936" cy="8107420"/>
          </a:xfrm>
          <a:prstGeom prst="rect">
            <a:avLst/>
          </a:prstGeo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A033B268-906B-03AC-06E0-0DB249B99742}"/>
              </a:ext>
            </a:extLst>
          </p:cNvPr>
          <p:cNvSpPr txBox="1"/>
          <p:nvPr/>
        </p:nvSpPr>
        <p:spPr>
          <a:xfrm>
            <a:off x="5867400" y="9632745"/>
            <a:ext cx="12686238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 Black" panose="020B0604020202020204" pitchFamily="34" charset="0"/>
                <a:ea typeface="Bauer Bodoni Bold"/>
                <a:cs typeface="Arial Black" panose="020B0604020202020204" pitchFamily="34" charset="0"/>
                <a:sym typeface="Bauer Bodoni Bold"/>
              </a:rPr>
              <a:t>Relationships Between Diversity, Insect Orders, and Life Stage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5114</TotalTime>
  <Words>1281</Words>
  <Application>Microsoft Macintosh PowerPoint</Application>
  <PresentationFormat>自定义</PresentationFormat>
  <Paragraphs>175</Paragraphs>
  <Slides>23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CharterBT-Roman</vt:lpstr>
      <vt:lpstr>STSong</vt:lpstr>
      <vt:lpstr>等线</vt:lpstr>
      <vt:lpstr>Calibri</vt:lpstr>
      <vt:lpstr>Canva Sans Bold</vt:lpstr>
      <vt:lpstr>Wingdings</vt:lpstr>
      <vt:lpstr>Arial Black</vt:lpstr>
      <vt:lpstr>-webkit-standard</vt:lpstr>
      <vt:lpstr>Cyrillic Bodoni Rough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Yuri</dc:title>
  <cp:lastModifiedBy>Xie, Xinyu Y</cp:lastModifiedBy>
  <cp:revision>21</cp:revision>
  <dcterms:created xsi:type="dcterms:W3CDTF">2006-08-16T00:00:00Z</dcterms:created>
  <dcterms:modified xsi:type="dcterms:W3CDTF">2024-09-02T23:17:04Z</dcterms:modified>
  <dc:identifier>DAGPFb0xcgY</dc:identifier>
</cp:coreProperties>
</file>